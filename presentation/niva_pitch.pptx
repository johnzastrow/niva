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601FDEB-672F-4985-9BDC-A88F604FE54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B5E9053-0874-4C3E-BF94-2DE035573C3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B04FEF5-9384-444E-9DEE-D1D93817227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28B241A-2BFC-4370-B7F9-24829542822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FB4E317-D525-48C7-82D9-6DA7225562E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C0FCE81-A3DA-422E-9D71-5DE9B5B768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40EBB4A-3BC6-453B-8F24-C3DA2A9B612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005E5B0-D07B-40C7-ACCB-6CB92AE6623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1865496-B406-4156-A2CB-C1CA175F304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F2A403F-51B4-45E0-BE76-C4C79482859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6C112D7-AAC2-4604-846B-7FB8BECC04C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Picture 1" descr="logo_text.png"/>
          <p:cNvPicPr/>
          <p:nvPr/>
        </p:nvPicPr>
        <p:blipFill>
          <a:blip r:embed="rId1"/>
          <a:stretch/>
        </p:blipFill>
        <p:spPr>
          <a:xfrm>
            <a:off x="5137920" y="640080"/>
            <a:ext cx="1915560" cy="246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TextBox 2"/>
          <p:cNvSpPr/>
          <p:nvPr/>
        </p:nvSpPr>
        <p:spPr>
          <a:xfrm>
            <a:off x="914400" y="3337560"/>
            <a:ext cx="10362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Readable geoprocessing for everyone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914400" y="4069080"/>
            <a:ext cx="10362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Spatial analysis that a non-programmer can write, reproduce, and share.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Rectangle 4"/>
          <p:cNvSpPr/>
          <p:nvPr/>
        </p:nvSpPr>
        <p:spPr>
          <a:xfrm>
            <a:off x="4541400" y="4892040"/>
            <a:ext cx="3108600" cy="548280"/>
          </a:xfrm>
          <a:prstGeom prst="rect">
            <a:avLst/>
          </a:prstGeom>
          <a:solidFill>
            <a:srgbClr val="2832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4541400" y="4956120"/>
            <a:ext cx="3108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C1B49B"/>
                </a:solidFill>
                <a:effectLst/>
                <a:uFillTx/>
                <a:latin typeface="Arial"/>
              </a:rPr>
              <a:t>Easy wins every time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6"/>
          <p:cNvSpPr/>
          <p:nvPr/>
        </p:nvSpPr>
        <p:spPr>
          <a:xfrm>
            <a:off x="914400" y="594360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2988E"/>
                </a:solidFill>
                <a:effectLst/>
                <a:uFillTx/>
                <a:latin typeface="Arial"/>
              </a:rPr>
              <a:t>Decision-maker &amp; analyst briefing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502920" y="567000"/>
            <a:ext cx="109440" cy="56664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731520" y="457200"/>
            <a:ext cx="10789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C1B49B"/>
                </a:solidFill>
                <a:effectLst/>
                <a:uFillTx/>
                <a:latin typeface="Arial"/>
              </a:rPr>
              <a:t>THE OPPORTUNITY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731520" y="749880"/>
            <a:ext cx="108810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Spatial questions are everywhere.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777240" y="1920240"/>
            <a:ext cx="1060668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2600" b="0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The people who need the answers — analysts, scientists, planners — </a:t>
            </a:r>
            <a:r>
              <a:rPr lang="en-US" sz="26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mostly aren't programmers.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777240" y="4023360"/>
            <a:ext cx="1060668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20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Yet to </a:t>
            </a:r>
            <a:r>
              <a:rPr lang="en-US" sz="20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automate</a:t>
            </a:r>
            <a:r>
              <a:rPr lang="en-US" sz="20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 the work — to make it repeatable and shareable — today's tools demand that they write code. So the work waits, or doesn't happen.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ectangle 6"/>
          <p:cNvSpPr/>
          <p:nvPr/>
        </p:nvSpPr>
        <p:spPr>
          <a:xfrm>
            <a:off x="0" y="6565320"/>
            <a:ext cx="12191400" cy="54360"/>
          </a:xfrm>
          <a:prstGeom prst="rect">
            <a:avLst/>
          </a:prstGeom>
          <a:solidFill>
            <a:srgbClr val="C1B49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502920" y="643752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niva</a:t>
            </a:r>
            <a:r>
              <a:rPr lang="en-US" sz="1200" b="0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  ·  Easy wins every time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10774440" y="6437520"/>
            <a:ext cx="91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 1"/>
          <p:cNvSpPr/>
          <p:nvPr/>
        </p:nvSpPr>
        <p:spPr>
          <a:xfrm>
            <a:off x="502920" y="567000"/>
            <a:ext cx="109440" cy="56664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2"/>
          <p:cNvSpPr/>
          <p:nvPr/>
        </p:nvSpPr>
        <p:spPr>
          <a:xfrm>
            <a:off x="731520" y="457200"/>
            <a:ext cx="10789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C1B49B"/>
                </a:solidFill>
                <a:effectLst/>
                <a:uFillTx/>
                <a:latin typeface="Arial"/>
              </a:rPr>
              <a:t>THE PROBLEM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3"/>
          <p:cNvSpPr/>
          <p:nvPr/>
        </p:nvSpPr>
        <p:spPr>
          <a:xfrm>
            <a:off x="731520" y="749880"/>
            <a:ext cx="108810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Automating QGIS means writing PyQGIS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4"/>
          <p:cNvSpPr/>
          <p:nvPr/>
        </p:nvSpPr>
        <p:spPr>
          <a:xfrm>
            <a:off x="777240" y="1600200"/>
            <a:ext cx="10606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To script even simple geoprocessing in QGIS today, you must: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ectangle 5"/>
          <p:cNvSpPr/>
          <p:nvPr/>
        </p:nvSpPr>
        <p:spPr>
          <a:xfrm>
            <a:off x="822960" y="2532960"/>
            <a:ext cx="145800" cy="14580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6"/>
          <p:cNvSpPr/>
          <p:nvPr/>
        </p:nvSpPr>
        <p:spPr>
          <a:xfrm>
            <a:off x="1143000" y="2414160"/>
            <a:ext cx="10240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Initialize a QgsApplication  </a:t>
            </a:r>
            <a:r>
              <a:rPr lang="en-US" sz="17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boilerplate before any work begins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Rectangle 7"/>
          <p:cNvSpPr/>
          <p:nvPr/>
        </p:nvSpPr>
        <p:spPr>
          <a:xfrm>
            <a:off x="822960" y="3319200"/>
            <a:ext cx="145800" cy="14580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Box 8"/>
          <p:cNvSpPr/>
          <p:nvPr/>
        </p:nvSpPr>
        <p:spPr>
          <a:xfrm>
            <a:off x="1143000" y="3200400"/>
            <a:ext cx="10240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Memorize algorithm IDs  </a:t>
            </a:r>
            <a:r>
              <a:rPr lang="en-US" sz="17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like native:buffer, native:dissolve, native:clip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Rectangle 9"/>
          <p:cNvSpPr/>
          <p:nvPr/>
        </p:nvSpPr>
        <p:spPr>
          <a:xfrm>
            <a:off x="822960" y="4105800"/>
            <a:ext cx="145800" cy="14580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Box 10"/>
          <p:cNvSpPr/>
          <p:nvPr/>
        </p:nvSpPr>
        <p:spPr>
          <a:xfrm>
            <a:off x="1143000" y="3986640"/>
            <a:ext cx="10240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Build ALL_CAPS parameter dicts  </a:t>
            </a:r>
            <a:r>
              <a:rPr lang="en-US" sz="17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and juggle TEMPORARY_OUTPUT between steps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Rectangle 11"/>
          <p:cNvSpPr/>
          <p:nvPr/>
        </p:nvSpPr>
        <p:spPr>
          <a:xfrm>
            <a:off x="822960" y="4892040"/>
            <a:ext cx="145800" cy="14580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TextBox 12"/>
          <p:cNvSpPr/>
          <p:nvPr/>
        </p:nvSpPr>
        <p:spPr>
          <a:xfrm>
            <a:off x="1143000" y="4773240"/>
            <a:ext cx="10240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Thread each tool's output into the next  </a:t>
            </a:r>
            <a:r>
              <a:rPr lang="en-US" sz="17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by hand, step after step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3"/>
          <p:cNvSpPr/>
          <p:nvPr/>
        </p:nvSpPr>
        <p:spPr>
          <a:xfrm>
            <a:off x="1143000" y="5715000"/>
            <a:ext cx="10240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0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That's a </a:t>
            </a:r>
            <a:r>
              <a:rPr lang="en-US" sz="1900" b="1" u="none" strike="noStrike">
                <a:solidFill>
                  <a:srgbClr val="B85C3C"/>
                </a:solidFill>
                <a:effectLst/>
                <a:uFillTx/>
                <a:latin typeface="Arial"/>
              </a:rPr>
              <a:t>programming task</a:t>
            </a:r>
            <a:r>
              <a:rPr lang="en-US" sz="1900" b="0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 — out of reach for the GUI-first analysts who need it most, and tedious even for those who can.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ectangle 14"/>
          <p:cNvSpPr/>
          <p:nvPr/>
        </p:nvSpPr>
        <p:spPr>
          <a:xfrm>
            <a:off x="0" y="6565320"/>
            <a:ext cx="12191400" cy="54360"/>
          </a:xfrm>
          <a:prstGeom prst="rect">
            <a:avLst/>
          </a:prstGeom>
          <a:solidFill>
            <a:srgbClr val="C1B49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TextBox 15"/>
          <p:cNvSpPr/>
          <p:nvPr/>
        </p:nvSpPr>
        <p:spPr>
          <a:xfrm>
            <a:off x="502920" y="643752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niva</a:t>
            </a:r>
            <a:r>
              <a:rPr lang="en-US" sz="1200" b="0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  ·  Easy wins every time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16"/>
          <p:cNvSpPr/>
          <p:nvPr/>
        </p:nvSpPr>
        <p:spPr>
          <a:xfrm>
            <a:off x="10774440" y="6437520"/>
            <a:ext cx="91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 1"/>
          <p:cNvSpPr/>
          <p:nvPr/>
        </p:nvSpPr>
        <p:spPr>
          <a:xfrm>
            <a:off x="502920" y="567000"/>
            <a:ext cx="109440" cy="56664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TextBox 2"/>
          <p:cNvSpPr/>
          <p:nvPr/>
        </p:nvSpPr>
        <p:spPr>
          <a:xfrm>
            <a:off x="731520" y="457200"/>
            <a:ext cx="10789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C1B49B"/>
                </a:solidFill>
                <a:effectLst/>
                <a:uFillTx/>
                <a:latin typeface="Arial"/>
              </a:rPr>
              <a:t>THE SHIFT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3"/>
          <p:cNvSpPr/>
          <p:nvPr/>
        </p:nvSpPr>
        <p:spPr>
          <a:xfrm>
            <a:off x="731520" y="749880"/>
            <a:ext cx="108810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Automation shouldn't require a programmer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4" name="Picture 4" descr="before_after.png"/>
          <p:cNvPicPr/>
          <p:nvPr/>
        </p:nvPicPr>
        <p:blipFill>
          <a:blip r:embed="rId1"/>
          <a:stretch/>
        </p:blipFill>
        <p:spPr>
          <a:xfrm>
            <a:off x="1452960" y="1554480"/>
            <a:ext cx="9285120" cy="4800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Rectangle 5"/>
          <p:cNvSpPr/>
          <p:nvPr/>
        </p:nvSpPr>
        <p:spPr>
          <a:xfrm>
            <a:off x="0" y="6565320"/>
            <a:ext cx="12191400" cy="54360"/>
          </a:xfrm>
          <a:prstGeom prst="rect">
            <a:avLst/>
          </a:prstGeom>
          <a:solidFill>
            <a:srgbClr val="C1B49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" name="TextBox 6"/>
          <p:cNvSpPr/>
          <p:nvPr/>
        </p:nvSpPr>
        <p:spPr>
          <a:xfrm>
            <a:off x="502920" y="643752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niva</a:t>
            </a:r>
            <a:r>
              <a:rPr lang="en-US" sz="1200" b="0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  ·  Easy wins every time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7"/>
          <p:cNvSpPr/>
          <p:nvPr/>
        </p:nvSpPr>
        <p:spPr>
          <a:xfrm>
            <a:off x="10774440" y="6437520"/>
            <a:ext cx="91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 1"/>
          <p:cNvSpPr/>
          <p:nvPr/>
        </p:nvSpPr>
        <p:spPr>
          <a:xfrm>
            <a:off x="502920" y="567000"/>
            <a:ext cx="109440" cy="56664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TextBox 2"/>
          <p:cNvSpPr/>
          <p:nvPr/>
        </p:nvSpPr>
        <p:spPr>
          <a:xfrm>
            <a:off x="731520" y="457200"/>
            <a:ext cx="10789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C1B49B"/>
                </a:solidFill>
                <a:effectLst/>
                <a:uFillTx/>
                <a:latin typeface="Arial"/>
              </a:rPr>
              <a:t>THE PRODUCT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3"/>
          <p:cNvSpPr/>
          <p:nvPr/>
        </p:nvSpPr>
        <p:spPr>
          <a:xfrm>
            <a:off x="731520" y="749880"/>
            <a:ext cx="108810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Meet niva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4"/>
          <p:cNvSpPr/>
          <p:nvPr/>
        </p:nvSpPr>
        <p:spPr>
          <a:xfrm>
            <a:off x="777240" y="1554480"/>
            <a:ext cx="10606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2400" b="0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A concise, readable </a:t>
            </a:r>
            <a:r>
              <a:rPr lang="en-US" sz="24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text-pipeline grammar</a:t>
            </a:r>
            <a:r>
              <a:rPr lang="en-US" sz="2400" b="0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 for QGIS geoprocessing — for people who don't want to write PyQGIS.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Rectangle 5"/>
          <p:cNvSpPr/>
          <p:nvPr/>
        </p:nvSpPr>
        <p:spPr>
          <a:xfrm>
            <a:off x="777240" y="2880360"/>
            <a:ext cx="10606680" cy="1142640"/>
          </a:xfrm>
          <a:prstGeom prst="rect">
            <a:avLst/>
          </a:prstGeom>
          <a:solidFill>
            <a:srgbClr val="2832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" name="TextBox 6"/>
          <p:cNvSpPr/>
          <p:nvPr/>
        </p:nvSpPr>
        <p:spPr>
          <a:xfrm>
            <a:off x="1097280" y="2880360"/>
            <a:ext cx="100580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C1B49B"/>
                </a:solidFill>
                <a:effectLst/>
                <a:uFillTx/>
                <a:latin typeface="Consolas"/>
              </a:rPr>
              <a:t>load</a:t>
            </a:r>
            <a:r>
              <a:rPr lang="en-US" sz="1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 roads.gpkg </a:t>
            </a:r>
            <a:r>
              <a:rPr lang="en-US" sz="1900" b="0" u="none" strike="noStrike">
                <a:solidFill>
                  <a:srgbClr val="92988E"/>
                </a:solidFill>
                <a:effectLst/>
                <a:uFillTx/>
                <a:latin typeface="Consolas"/>
              </a:rPr>
              <a:t>| </a:t>
            </a:r>
            <a:r>
              <a:rPr lang="en-US" sz="1900" b="1" u="none" strike="noStrike">
                <a:solidFill>
                  <a:srgbClr val="C1B49B"/>
                </a:solidFill>
                <a:effectLst/>
                <a:uFillTx/>
                <a:latin typeface="Consolas"/>
              </a:rPr>
              <a:t>buffer</a:t>
            </a:r>
            <a:r>
              <a:rPr lang="en-US" sz="1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 100 dissolve </a:t>
            </a:r>
            <a:r>
              <a:rPr lang="en-US" sz="1900" b="0" u="none" strike="noStrike">
                <a:solidFill>
                  <a:srgbClr val="92988E"/>
                </a:solidFill>
                <a:effectLst/>
                <a:uFillTx/>
                <a:latin typeface="Consolas"/>
              </a:rPr>
              <a:t>| </a:t>
            </a:r>
            <a:r>
              <a:rPr lang="en-US" sz="1900" b="1" u="none" strike="noStrike">
                <a:solidFill>
                  <a:srgbClr val="C1B49B"/>
                </a:solidFill>
                <a:effectLst/>
                <a:uFillTx/>
                <a:latin typeface="Consolas"/>
              </a:rPr>
              <a:t>clip</a:t>
            </a:r>
            <a:r>
              <a:rPr lang="en-US" sz="1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 city.gpkg </a:t>
            </a:r>
            <a:r>
              <a:rPr lang="en-US" sz="1900" b="0" u="none" strike="noStrike">
                <a:solidFill>
                  <a:srgbClr val="92988E"/>
                </a:solidFill>
                <a:effectLst/>
                <a:uFillTx/>
                <a:latin typeface="Consolas"/>
              </a:rPr>
              <a:t>| </a:t>
            </a:r>
            <a:r>
              <a:rPr lang="en-US" sz="1900" b="1" u="none" strike="noStrike">
                <a:solidFill>
                  <a:srgbClr val="C1B49B"/>
                </a:solidFill>
                <a:effectLst/>
                <a:uFillTx/>
                <a:latin typeface="Consolas"/>
              </a:rPr>
              <a:t>save</a:t>
            </a:r>
            <a:r>
              <a:rPr lang="en-US" sz="1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 roads_local.gpkg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7"/>
          <p:cNvSpPr/>
          <p:nvPr/>
        </p:nvSpPr>
        <p:spPr>
          <a:xfrm>
            <a:off x="777240" y="4343400"/>
            <a:ext cx="106066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20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A whole pipeline on one line — that a non-programmer can </a:t>
            </a:r>
            <a:r>
              <a:rPr lang="en-US" sz="20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write and read</a:t>
            </a:r>
            <a:r>
              <a:rPr lang="en-US" sz="20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 — running on QGIS's own Processing algorithms underneath.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8"/>
          <p:cNvSpPr/>
          <p:nvPr/>
        </p:nvSpPr>
        <p:spPr>
          <a:xfrm>
            <a:off x="777240" y="557784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i="1" u="none" strike="noStrike">
                <a:solidFill>
                  <a:srgbClr val="C1B49B"/>
                </a:solidFill>
                <a:effectLst/>
                <a:uFillTx/>
                <a:latin typeface="Arial"/>
              </a:rPr>
              <a:t>Easy wins every time.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Rectangle 9"/>
          <p:cNvSpPr/>
          <p:nvPr/>
        </p:nvSpPr>
        <p:spPr>
          <a:xfrm>
            <a:off x="0" y="6565320"/>
            <a:ext cx="12191400" cy="54360"/>
          </a:xfrm>
          <a:prstGeom prst="rect">
            <a:avLst/>
          </a:prstGeom>
          <a:solidFill>
            <a:srgbClr val="C1B49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TextBox 10"/>
          <p:cNvSpPr/>
          <p:nvPr/>
        </p:nvSpPr>
        <p:spPr>
          <a:xfrm>
            <a:off x="502920" y="643752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niva</a:t>
            </a:r>
            <a:r>
              <a:rPr lang="en-US" sz="1200" b="0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  ·  Easy wins every time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11"/>
          <p:cNvSpPr/>
          <p:nvPr/>
        </p:nvSpPr>
        <p:spPr>
          <a:xfrm>
            <a:off x="10774440" y="6437520"/>
            <a:ext cx="91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Rectangle 1"/>
          <p:cNvSpPr/>
          <p:nvPr/>
        </p:nvSpPr>
        <p:spPr>
          <a:xfrm>
            <a:off x="502920" y="567000"/>
            <a:ext cx="109440" cy="56664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TextBox 2"/>
          <p:cNvSpPr/>
          <p:nvPr/>
        </p:nvSpPr>
        <p:spPr>
          <a:xfrm>
            <a:off x="731520" y="457200"/>
            <a:ext cx="10789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C1B49B"/>
                </a:solidFill>
                <a:effectLst/>
                <a:uFillTx/>
                <a:latin typeface="Arial"/>
              </a:rPr>
              <a:t>AUDIENCE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3"/>
          <p:cNvSpPr/>
          <p:nvPr/>
        </p:nvSpPr>
        <p:spPr>
          <a:xfrm>
            <a:off x="731520" y="749880"/>
            <a:ext cx="108810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Who niva is for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Rectangle 4"/>
          <p:cNvSpPr/>
          <p:nvPr/>
        </p:nvSpPr>
        <p:spPr>
          <a:xfrm>
            <a:off x="650520" y="1828800"/>
            <a:ext cx="3520080" cy="4023000"/>
          </a:xfrm>
          <a:prstGeom prst="rect">
            <a:avLst/>
          </a:prstGeom>
          <a:solidFill>
            <a:srgbClr val="EEF1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" name="Rectangle 5"/>
          <p:cNvSpPr/>
          <p:nvPr/>
        </p:nvSpPr>
        <p:spPr>
          <a:xfrm>
            <a:off x="650520" y="1828800"/>
            <a:ext cx="3520080" cy="20088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TextBox 6"/>
          <p:cNvSpPr/>
          <p:nvPr/>
        </p:nvSpPr>
        <p:spPr>
          <a:xfrm>
            <a:off x="879120" y="2240280"/>
            <a:ext cx="306288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Decision-makers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7"/>
          <p:cNvSpPr/>
          <p:nvPr/>
        </p:nvSpPr>
        <p:spPr>
          <a:xfrm>
            <a:off x="879120" y="3429000"/>
            <a:ext cx="306288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6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Faster answers without hiring scarce GIS programmers. Work that's auditable, reproducible, and shareable across the org.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Rectangle 8"/>
          <p:cNvSpPr/>
          <p:nvPr/>
        </p:nvSpPr>
        <p:spPr>
          <a:xfrm>
            <a:off x="4335480" y="1828800"/>
            <a:ext cx="3520080" cy="4023000"/>
          </a:xfrm>
          <a:prstGeom prst="rect">
            <a:avLst/>
          </a:prstGeom>
          <a:solidFill>
            <a:srgbClr val="EEF1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Rectangle 9"/>
          <p:cNvSpPr/>
          <p:nvPr/>
        </p:nvSpPr>
        <p:spPr>
          <a:xfrm>
            <a:off x="4335480" y="1828800"/>
            <a:ext cx="3520080" cy="200880"/>
          </a:xfrm>
          <a:prstGeom prst="rect">
            <a:avLst/>
          </a:prstGeom>
          <a:solidFill>
            <a:srgbClr val="C1B49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TextBox 10"/>
          <p:cNvSpPr/>
          <p:nvPr/>
        </p:nvSpPr>
        <p:spPr>
          <a:xfrm>
            <a:off x="4564080" y="2240280"/>
            <a:ext cx="306288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r>
              <a:rPr lang="en-US" sz="21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Data scientists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(non-programmers)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11"/>
          <p:cNvSpPr/>
          <p:nvPr/>
        </p:nvSpPr>
        <p:spPr>
          <a:xfrm>
            <a:off x="4564080" y="3429000"/>
            <a:ext cx="306288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6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Already use Marimo for repeatable, shareable analysis. Now add geoprocessing — in the same readable, reactive workflow.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Rectangle 12"/>
          <p:cNvSpPr/>
          <p:nvPr/>
        </p:nvSpPr>
        <p:spPr>
          <a:xfrm>
            <a:off x="8020800" y="1828800"/>
            <a:ext cx="3520080" cy="4023000"/>
          </a:xfrm>
          <a:prstGeom prst="rect">
            <a:avLst/>
          </a:prstGeom>
          <a:solidFill>
            <a:srgbClr val="EEF1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Rectangle 13"/>
          <p:cNvSpPr/>
          <p:nvPr/>
        </p:nvSpPr>
        <p:spPr>
          <a:xfrm>
            <a:off x="8020800" y="1828800"/>
            <a:ext cx="3520080" cy="20088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TextBox 14"/>
          <p:cNvSpPr/>
          <p:nvPr/>
        </p:nvSpPr>
        <p:spPr>
          <a:xfrm>
            <a:off x="8249400" y="2240280"/>
            <a:ext cx="306288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1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Downstream consumers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15"/>
          <p:cNvSpPr/>
          <p:nvPr/>
        </p:nvSpPr>
        <p:spPr>
          <a:xfrm>
            <a:off x="8249400" y="3429000"/>
            <a:ext cx="306288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6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Explore the results in QGIS, in Marimo, or as static files — whichever fits, no GIS expertise required.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Rectangle 16"/>
          <p:cNvSpPr/>
          <p:nvPr/>
        </p:nvSpPr>
        <p:spPr>
          <a:xfrm>
            <a:off x="0" y="6565320"/>
            <a:ext cx="12191400" cy="54360"/>
          </a:xfrm>
          <a:prstGeom prst="rect">
            <a:avLst/>
          </a:prstGeom>
          <a:solidFill>
            <a:srgbClr val="C1B49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TextBox 17"/>
          <p:cNvSpPr/>
          <p:nvPr/>
        </p:nvSpPr>
        <p:spPr>
          <a:xfrm>
            <a:off x="502920" y="643752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niva</a:t>
            </a:r>
            <a:r>
              <a:rPr lang="en-US" sz="1200" b="0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  ·  Easy wins every time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Box 18"/>
          <p:cNvSpPr/>
          <p:nvPr/>
        </p:nvSpPr>
        <p:spPr>
          <a:xfrm>
            <a:off x="10774440" y="6437520"/>
            <a:ext cx="91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tangle 1"/>
          <p:cNvSpPr/>
          <p:nvPr/>
        </p:nvSpPr>
        <p:spPr>
          <a:xfrm>
            <a:off x="502920" y="567000"/>
            <a:ext cx="109440" cy="56664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" name="TextBox 2"/>
          <p:cNvSpPr/>
          <p:nvPr/>
        </p:nvSpPr>
        <p:spPr>
          <a:xfrm>
            <a:off x="731520" y="457200"/>
            <a:ext cx="10789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C1B49B"/>
                </a:solidFill>
                <a:effectLst/>
                <a:uFillTx/>
                <a:latin typeface="Arial"/>
              </a:rPr>
              <a:t>MARIMO-NATIVE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3"/>
          <p:cNvSpPr/>
          <p:nvPr/>
        </p:nvSpPr>
        <p:spPr>
          <a:xfrm>
            <a:off x="731520" y="749880"/>
            <a:ext cx="108810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It fits the workflow you already have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4"/>
          <p:cNvSpPr/>
          <p:nvPr/>
        </p:nvSpPr>
        <p:spPr>
          <a:xfrm>
            <a:off x="777240" y="1600200"/>
            <a:ext cx="10606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Marimo is how your team makes analysis repeatable and shareable. niva runs right inside it: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Rectangle 5"/>
          <p:cNvSpPr/>
          <p:nvPr/>
        </p:nvSpPr>
        <p:spPr>
          <a:xfrm>
            <a:off x="822960" y="2532960"/>
            <a:ext cx="145800" cy="14580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" name="TextBox 6"/>
          <p:cNvSpPr/>
          <p:nvPr/>
        </p:nvSpPr>
        <p:spPr>
          <a:xfrm>
            <a:off x="1143000" y="2414160"/>
            <a:ext cx="10240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Write niva in a Marimo cell  </a:t>
            </a:r>
            <a:r>
              <a:rPr lang="en-US" sz="17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a readable pipeline beside your Python and charts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Rectangle 7"/>
          <p:cNvSpPr/>
          <p:nvPr/>
        </p:nvSpPr>
        <p:spPr>
          <a:xfrm>
            <a:off x="822960" y="3319200"/>
            <a:ext cx="145800" cy="14580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" name="TextBox 8"/>
          <p:cNvSpPr/>
          <p:nvPr/>
        </p:nvSpPr>
        <p:spPr>
          <a:xfrm>
            <a:off x="1143000" y="3200400"/>
            <a:ext cx="10240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Reactive results  </a:t>
            </a:r>
            <a:r>
              <a:rPr lang="en-US" sz="17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change an input, the map and tables update — live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Rectangle 9"/>
          <p:cNvSpPr/>
          <p:nvPr/>
        </p:nvSpPr>
        <p:spPr>
          <a:xfrm>
            <a:off x="822960" y="4105800"/>
            <a:ext cx="145800" cy="14580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1143000" y="3986640"/>
            <a:ext cx="10240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Repeatable  </a:t>
            </a:r>
            <a:r>
              <a:rPr lang="en-US" sz="17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the notebook is the analysis; re-run it any time, same result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Rectangle 11"/>
          <p:cNvSpPr/>
          <p:nvPr/>
        </p:nvSpPr>
        <p:spPr>
          <a:xfrm>
            <a:off x="822960" y="4892040"/>
            <a:ext cx="145800" cy="14580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Box 12"/>
          <p:cNvSpPr/>
          <p:nvPr/>
        </p:nvSpPr>
        <p:spPr>
          <a:xfrm>
            <a:off x="1143000" y="4773240"/>
            <a:ext cx="10240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Shareable  </a:t>
            </a:r>
            <a:r>
              <a:rPr lang="en-US" sz="17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hand someone the notebook, or export it — no setup ritual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13"/>
          <p:cNvSpPr/>
          <p:nvPr/>
        </p:nvSpPr>
        <p:spPr>
          <a:xfrm>
            <a:off x="1143000" y="5760720"/>
            <a:ext cx="10240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No new tool to adopt — </a:t>
            </a:r>
            <a:r>
              <a:rPr lang="en-US" sz="18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niva meets your people where they already work.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15"/>
          <p:cNvSpPr/>
          <p:nvPr/>
        </p:nvSpPr>
        <p:spPr>
          <a:xfrm>
            <a:off x="502920" y="643752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niva</a:t>
            </a:r>
            <a:r>
              <a:rPr lang="en-US" sz="1200" b="0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  ·  Easy wins every time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16"/>
          <p:cNvSpPr/>
          <p:nvPr/>
        </p:nvSpPr>
        <p:spPr>
          <a:xfrm>
            <a:off x="10774440" y="6437520"/>
            <a:ext cx="91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Rectangle 1"/>
          <p:cNvSpPr/>
          <p:nvPr/>
        </p:nvSpPr>
        <p:spPr>
          <a:xfrm>
            <a:off x="502920" y="567000"/>
            <a:ext cx="109440" cy="56664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3" name="TextBox 2"/>
          <p:cNvSpPr/>
          <p:nvPr/>
        </p:nvSpPr>
        <p:spPr>
          <a:xfrm>
            <a:off x="731520" y="457200"/>
            <a:ext cx="10789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C1B49B"/>
                </a:solidFill>
                <a:effectLst/>
                <a:uFillTx/>
                <a:latin typeface="Arial"/>
              </a:rPr>
              <a:t>FLEXIBLE BY DESIGN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3"/>
          <p:cNvSpPr/>
          <p:nvPr/>
        </p:nvSpPr>
        <p:spPr>
          <a:xfrm>
            <a:off x="731520" y="749880"/>
            <a:ext cx="108810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One grammar, many surfaces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5" name="Picture 4" descr="surfaces.png"/>
          <p:cNvPicPr/>
          <p:nvPr/>
        </p:nvPicPr>
        <p:blipFill>
          <a:blip r:embed="rId1"/>
          <a:stretch/>
        </p:blipFill>
        <p:spPr>
          <a:xfrm>
            <a:off x="956160" y="1554480"/>
            <a:ext cx="10279440" cy="4800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6" name="Rectangle 5"/>
          <p:cNvSpPr/>
          <p:nvPr/>
        </p:nvSpPr>
        <p:spPr>
          <a:xfrm>
            <a:off x="0" y="6565320"/>
            <a:ext cx="12191400" cy="54360"/>
          </a:xfrm>
          <a:prstGeom prst="rect">
            <a:avLst/>
          </a:prstGeom>
          <a:solidFill>
            <a:srgbClr val="C1B49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TextBox 6"/>
          <p:cNvSpPr/>
          <p:nvPr/>
        </p:nvSpPr>
        <p:spPr>
          <a:xfrm>
            <a:off x="502920" y="643752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niva</a:t>
            </a:r>
            <a:r>
              <a:rPr lang="en-US" sz="1200" b="0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  ·  Easy wins every time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Box 7"/>
          <p:cNvSpPr/>
          <p:nvPr/>
        </p:nvSpPr>
        <p:spPr>
          <a:xfrm>
            <a:off x="10774440" y="6437520"/>
            <a:ext cx="91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Rectangle 1"/>
          <p:cNvSpPr/>
          <p:nvPr/>
        </p:nvSpPr>
        <p:spPr>
          <a:xfrm>
            <a:off x="502920" y="567000"/>
            <a:ext cx="109440" cy="56664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Box 2"/>
          <p:cNvSpPr/>
          <p:nvPr/>
        </p:nvSpPr>
        <p:spPr>
          <a:xfrm>
            <a:off x="731520" y="457200"/>
            <a:ext cx="10789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C1B49B"/>
                </a:solidFill>
                <a:effectLst/>
                <a:uFillTx/>
                <a:latin typeface="Arial"/>
              </a:rPr>
              <a:t>TRUST THE RESULT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3"/>
          <p:cNvSpPr/>
          <p:nvPr/>
        </p:nvSpPr>
        <p:spPr>
          <a:xfrm>
            <a:off x="731520" y="749880"/>
            <a:ext cx="108810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Reproducible &amp; shareable — by design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4"/>
          <p:cNvSpPr/>
          <p:nvPr/>
        </p:nvSpPr>
        <p:spPr>
          <a:xfrm>
            <a:off x="777240" y="1600200"/>
            <a:ext cx="10606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The value decision-makers care about most: results you can re-run, audit, and defend.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Rectangle 5"/>
          <p:cNvSpPr/>
          <p:nvPr/>
        </p:nvSpPr>
        <p:spPr>
          <a:xfrm>
            <a:off x="822960" y="2532960"/>
            <a:ext cx="145800" cy="14580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Box 6"/>
          <p:cNvSpPr/>
          <p:nvPr/>
        </p:nvSpPr>
        <p:spPr>
          <a:xfrm>
            <a:off x="1143000" y="2414160"/>
            <a:ext cx="10240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Pipelines are the record  </a:t>
            </a:r>
            <a:r>
              <a:rPr lang="en-US" sz="17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the one-line flow (or YAML) IS the documentation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Rectangle 7"/>
          <p:cNvSpPr/>
          <p:nvPr/>
        </p:nvSpPr>
        <p:spPr>
          <a:xfrm>
            <a:off x="822960" y="3319200"/>
            <a:ext cx="145800" cy="14580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" name="TextBox 8"/>
          <p:cNvSpPr/>
          <p:nvPr/>
        </p:nvSpPr>
        <p:spPr>
          <a:xfrm>
            <a:off x="1143000" y="3200400"/>
            <a:ext cx="10240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Provenance as a byproduct  </a:t>
            </a:r>
            <a:r>
              <a:rPr lang="en-US" sz="17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every step auto-recorded as lineage metadata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Rectangle 9"/>
          <p:cNvSpPr/>
          <p:nvPr/>
        </p:nvSpPr>
        <p:spPr>
          <a:xfrm>
            <a:off x="822960" y="4105800"/>
            <a:ext cx="145800" cy="14580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" name="TextBox 10"/>
          <p:cNvSpPr/>
          <p:nvPr/>
        </p:nvSpPr>
        <p:spPr>
          <a:xfrm>
            <a:off x="1143000" y="3986640"/>
            <a:ext cx="10240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Assess your inputs  </a:t>
            </a:r>
            <a:r>
              <a:rPr lang="en-US" sz="17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profile incoming data for quality before you trust it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Rectangle 11"/>
          <p:cNvSpPr/>
          <p:nvPr/>
        </p:nvSpPr>
        <p:spPr>
          <a:xfrm>
            <a:off x="822960" y="4892040"/>
            <a:ext cx="145800" cy="14580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Box 12"/>
          <p:cNvSpPr/>
          <p:nvPr/>
        </p:nvSpPr>
        <p:spPr>
          <a:xfrm>
            <a:off x="1143000" y="4773240"/>
            <a:ext cx="10240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Version-controlled flows  </a:t>
            </a:r>
            <a:r>
              <a:rPr lang="en-US" sz="17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diff and review analysis like any other text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Rectangle 13"/>
          <p:cNvSpPr/>
          <p:nvPr/>
        </p:nvSpPr>
        <p:spPr>
          <a:xfrm>
            <a:off x="0" y="6565320"/>
            <a:ext cx="12191400" cy="54360"/>
          </a:xfrm>
          <a:prstGeom prst="rect">
            <a:avLst/>
          </a:prstGeom>
          <a:solidFill>
            <a:srgbClr val="C1B49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" name="TextBox 14"/>
          <p:cNvSpPr/>
          <p:nvPr/>
        </p:nvSpPr>
        <p:spPr>
          <a:xfrm>
            <a:off x="502920" y="643752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niva</a:t>
            </a:r>
            <a:r>
              <a:rPr lang="en-US" sz="1200" b="0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  ·  Easy wins every time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15"/>
          <p:cNvSpPr/>
          <p:nvPr/>
        </p:nvSpPr>
        <p:spPr>
          <a:xfrm>
            <a:off x="10774440" y="6437520"/>
            <a:ext cx="91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Rectangle 1"/>
          <p:cNvSpPr/>
          <p:nvPr/>
        </p:nvSpPr>
        <p:spPr>
          <a:xfrm>
            <a:off x="502920" y="567000"/>
            <a:ext cx="109440" cy="56664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Box 2"/>
          <p:cNvSpPr/>
          <p:nvPr/>
        </p:nvSpPr>
        <p:spPr>
          <a:xfrm>
            <a:off x="731520" y="457200"/>
            <a:ext cx="10789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C1B49B"/>
                </a:solidFill>
                <a:effectLst/>
                <a:uFillTx/>
                <a:latin typeface="Arial"/>
              </a:rPr>
              <a:t>FOR EVERY STAKEHOLDER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3"/>
          <p:cNvSpPr/>
          <p:nvPr/>
        </p:nvSpPr>
        <p:spPr>
          <a:xfrm>
            <a:off x="731520" y="749880"/>
            <a:ext cx="108810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Produce once — explore it anywhere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7" name="Picture 4" descr="explore_anywhere.png"/>
          <p:cNvPicPr/>
          <p:nvPr/>
        </p:nvPicPr>
        <p:blipFill>
          <a:blip r:embed="rId1"/>
          <a:stretch/>
        </p:blipFill>
        <p:spPr>
          <a:xfrm>
            <a:off x="956160" y="1554480"/>
            <a:ext cx="10279440" cy="4800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Rectangle 5"/>
          <p:cNvSpPr/>
          <p:nvPr/>
        </p:nvSpPr>
        <p:spPr>
          <a:xfrm>
            <a:off x="0" y="6565320"/>
            <a:ext cx="12191400" cy="54360"/>
          </a:xfrm>
          <a:prstGeom prst="rect">
            <a:avLst/>
          </a:prstGeom>
          <a:solidFill>
            <a:srgbClr val="C1B49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Box 6"/>
          <p:cNvSpPr/>
          <p:nvPr/>
        </p:nvSpPr>
        <p:spPr>
          <a:xfrm>
            <a:off x="502920" y="643752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niva</a:t>
            </a:r>
            <a:r>
              <a:rPr lang="en-US" sz="1200" b="0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  ·  Easy wins every time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7"/>
          <p:cNvSpPr/>
          <p:nvPr/>
        </p:nvSpPr>
        <p:spPr>
          <a:xfrm>
            <a:off x="10774440" y="6437520"/>
            <a:ext cx="91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10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1"/>
          <p:cNvSpPr/>
          <p:nvPr/>
        </p:nvSpPr>
        <p:spPr>
          <a:xfrm>
            <a:off x="502920" y="567000"/>
            <a:ext cx="109440" cy="56664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Box 2"/>
          <p:cNvSpPr/>
          <p:nvPr/>
        </p:nvSpPr>
        <p:spPr>
          <a:xfrm>
            <a:off x="731520" y="457200"/>
            <a:ext cx="10789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C1B49B"/>
                </a:solidFill>
                <a:effectLst/>
                <a:uFillTx/>
                <a:latin typeface="Arial"/>
              </a:rPr>
              <a:t>WITHOUT NIVA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Box 3"/>
          <p:cNvSpPr/>
          <p:nvPr/>
        </p:nvSpPr>
        <p:spPr>
          <a:xfrm>
            <a:off x="731520" y="749880"/>
            <a:ext cx="108810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The workflow today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4" name="Picture 4" descr="without_niva.png"/>
          <p:cNvPicPr/>
          <p:nvPr/>
        </p:nvPicPr>
        <p:blipFill>
          <a:blip r:embed="rId1"/>
          <a:stretch/>
        </p:blipFill>
        <p:spPr>
          <a:xfrm>
            <a:off x="502920" y="1717560"/>
            <a:ext cx="11185560" cy="447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Rectangle 5"/>
          <p:cNvSpPr/>
          <p:nvPr/>
        </p:nvSpPr>
        <p:spPr>
          <a:xfrm>
            <a:off x="0" y="6565320"/>
            <a:ext cx="12191400" cy="54360"/>
          </a:xfrm>
          <a:prstGeom prst="rect">
            <a:avLst/>
          </a:prstGeom>
          <a:solidFill>
            <a:srgbClr val="C1B49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" name="TextBox 6"/>
          <p:cNvSpPr/>
          <p:nvPr/>
        </p:nvSpPr>
        <p:spPr>
          <a:xfrm>
            <a:off x="502920" y="643752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niva</a:t>
            </a:r>
            <a:r>
              <a:rPr lang="en-US" sz="1200" b="0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  ·  Easy wins every time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Box 7"/>
          <p:cNvSpPr/>
          <p:nvPr/>
        </p:nvSpPr>
        <p:spPr>
          <a:xfrm>
            <a:off x="10774440" y="6437520"/>
            <a:ext cx="91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11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Rectangle 1"/>
          <p:cNvSpPr/>
          <p:nvPr/>
        </p:nvSpPr>
        <p:spPr>
          <a:xfrm>
            <a:off x="502920" y="567000"/>
            <a:ext cx="109440" cy="56664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" name="TextBox 2"/>
          <p:cNvSpPr/>
          <p:nvPr/>
        </p:nvSpPr>
        <p:spPr>
          <a:xfrm>
            <a:off x="731520" y="457200"/>
            <a:ext cx="10789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C1B49B"/>
                </a:solidFill>
                <a:effectLst/>
                <a:uFillTx/>
                <a:latin typeface="Arial"/>
              </a:rPr>
              <a:t>WITH NIVA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Box 3"/>
          <p:cNvSpPr/>
          <p:nvPr/>
        </p:nvSpPr>
        <p:spPr>
          <a:xfrm>
            <a:off x="731520" y="749880"/>
            <a:ext cx="108810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The workflow with niva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1" name="Picture 4" descr="with_niva.png"/>
          <p:cNvPicPr/>
          <p:nvPr/>
        </p:nvPicPr>
        <p:blipFill>
          <a:blip r:embed="rId1"/>
          <a:stretch/>
        </p:blipFill>
        <p:spPr>
          <a:xfrm>
            <a:off x="502920" y="1717560"/>
            <a:ext cx="11185560" cy="447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Rectangle 5"/>
          <p:cNvSpPr/>
          <p:nvPr/>
        </p:nvSpPr>
        <p:spPr>
          <a:xfrm>
            <a:off x="0" y="6565320"/>
            <a:ext cx="12191400" cy="54360"/>
          </a:xfrm>
          <a:prstGeom prst="rect">
            <a:avLst/>
          </a:prstGeom>
          <a:solidFill>
            <a:srgbClr val="C1B49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" name="TextBox 6"/>
          <p:cNvSpPr/>
          <p:nvPr/>
        </p:nvSpPr>
        <p:spPr>
          <a:xfrm>
            <a:off x="502920" y="643752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niva</a:t>
            </a:r>
            <a:r>
              <a:rPr lang="en-US" sz="1200" b="0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  ·  Easy wins every time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7"/>
          <p:cNvSpPr/>
          <p:nvPr/>
        </p:nvSpPr>
        <p:spPr>
          <a:xfrm>
            <a:off x="10774440" y="6437520"/>
            <a:ext cx="91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12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Rectangle 1"/>
          <p:cNvSpPr/>
          <p:nvPr/>
        </p:nvSpPr>
        <p:spPr>
          <a:xfrm>
            <a:off x="502920" y="567000"/>
            <a:ext cx="109440" cy="56664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" name="TextBox 2"/>
          <p:cNvSpPr/>
          <p:nvPr/>
        </p:nvSpPr>
        <p:spPr>
          <a:xfrm>
            <a:off x="731520" y="457200"/>
            <a:ext cx="10789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C1B49B"/>
                </a:solidFill>
                <a:effectLst/>
                <a:uFillTx/>
                <a:latin typeface="Arial"/>
              </a:rPr>
              <a:t>THIN, NOT LIMITING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Box 3"/>
          <p:cNvSpPr/>
          <p:nvPr/>
        </p:nvSpPr>
        <p:spPr>
          <a:xfrm>
            <a:off x="731520" y="749880"/>
            <a:ext cx="108810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All of QGIS — in plain language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Rectangle 4"/>
          <p:cNvSpPr/>
          <p:nvPr/>
        </p:nvSpPr>
        <p:spPr>
          <a:xfrm>
            <a:off x="746640" y="1920240"/>
            <a:ext cx="3382920" cy="2102760"/>
          </a:xfrm>
          <a:prstGeom prst="rect">
            <a:avLst/>
          </a:prstGeom>
          <a:solidFill>
            <a:srgbClr val="EEF1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" name="TextBox 5"/>
          <p:cNvSpPr/>
          <p:nvPr/>
        </p:nvSpPr>
        <p:spPr>
          <a:xfrm>
            <a:off x="746640" y="2148840"/>
            <a:ext cx="33829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58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769</a:t>
            </a:r>
            <a:endParaRPr lang="en-US" sz="5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6"/>
          <p:cNvSpPr/>
          <p:nvPr/>
        </p:nvSpPr>
        <p:spPr>
          <a:xfrm>
            <a:off x="746640" y="338328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Processing algorithms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Rectangle 7"/>
          <p:cNvSpPr/>
          <p:nvPr/>
        </p:nvSpPr>
        <p:spPr>
          <a:xfrm>
            <a:off x="4404240" y="1920240"/>
            <a:ext cx="3382920" cy="2102760"/>
          </a:xfrm>
          <a:prstGeom prst="rect">
            <a:avLst/>
          </a:prstGeom>
          <a:solidFill>
            <a:srgbClr val="EEF1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" name="TextBox 8"/>
          <p:cNvSpPr/>
          <p:nvPr/>
        </p:nvSpPr>
        <p:spPr>
          <a:xfrm>
            <a:off x="4404240" y="2148840"/>
            <a:ext cx="33829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58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406</a:t>
            </a:r>
            <a:endParaRPr lang="en-US" sz="5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9"/>
          <p:cNvSpPr/>
          <p:nvPr/>
        </p:nvSpPr>
        <p:spPr>
          <a:xfrm>
            <a:off x="4404240" y="338328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expression functions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Rectangle 10"/>
          <p:cNvSpPr/>
          <p:nvPr/>
        </p:nvSpPr>
        <p:spPr>
          <a:xfrm>
            <a:off x="8061840" y="1920240"/>
            <a:ext cx="3382920" cy="2102760"/>
          </a:xfrm>
          <a:prstGeom prst="rect">
            <a:avLst/>
          </a:prstGeom>
          <a:solidFill>
            <a:srgbClr val="EEF1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" name="TextBox 11"/>
          <p:cNvSpPr/>
          <p:nvPr/>
        </p:nvSpPr>
        <p:spPr>
          <a:xfrm>
            <a:off x="8061840" y="2148840"/>
            <a:ext cx="33829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58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SQL</a:t>
            </a:r>
            <a:endParaRPr lang="en-US" sz="5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12"/>
          <p:cNvSpPr/>
          <p:nvPr/>
        </p:nvSpPr>
        <p:spPr>
          <a:xfrm>
            <a:off x="8061840" y="3383280"/>
            <a:ext cx="33829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SpatiaLite &amp; PostGIS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Box 13"/>
          <p:cNvSpPr/>
          <p:nvPr/>
        </p:nvSpPr>
        <p:spPr>
          <a:xfrm>
            <a:off x="777240" y="4526280"/>
            <a:ext cx="1060668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20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niva is a </a:t>
            </a:r>
            <a:r>
              <a:rPr lang="en-US" sz="20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thin wrapper</a:t>
            </a:r>
            <a:r>
              <a:rPr lang="en-US" sz="20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 — friendly verbs mapped onto QGIS's own algorithms, not a re-implementation of GIS. You get the full power of the world's leading open-source GIS, reachable in one readable line.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Rectangle 14"/>
          <p:cNvSpPr/>
          <p:nvPr/>
        </p:nvSpPr>
        <p:spPr>
          <a:xfrm>
            <a:off x="0" y="6565320"/>
            <a:ext cx="12191400" cy="54360"/>
          </a:xfrm>
          <a:prstGeom prst="rect">
            <a:avLst/>
          </a:prstGeom>
          <a:solidFill>
            <a:srgbClr val="C1B49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15"/>
          <p:cNvSpPr/>
          <p:nvPr/>
        </p:nvSpPr>
        <p:spPr>
          <a:xfrm>
            <a:off x="502920" y="643752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niva</a:t>
            </a:r>
            <a:r>
              <a:rPr lang="en-US" sz="1200" b="0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  ·  Easy wins every time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16"/>
          <p:cNvSpPr/>
          <p:nvPr/>
        </p:nvSpPr>
        <p:spPr>
          <a:xfrm>
            <a:off x="10774440" y="6437520"/>
            <a:ext cx="91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13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ectangle 1"/>
          <p:cNvSpPr/>
          <p:nvPr/>
        </p:nvSpPr>
        <p:spPr>
          <a:xfrm>
            <a:off x="502920" y="567000"/>
            <a:ext cx="109440" cy="56664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TextBox 2"/>
          <p:cNvSpPr/>
          <p:nvPr/>
        </p:nvSpPr>
        <p:spPr>
          <a:xfrm>
            <a:off x="731520" y="457200"/>
            <a:ext cx="10789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C1B49B"/>
                </a:solidFill>
                <a:effectLst/>
                <a:uFillTx/>
                <a:latin typeface="Arial"/>
              </a:rPr>
              <a:t>THE TAILWINDS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Box 3"/>
          <p:cNvSpPr/>
          <p:nvPr/>
        </p:nvSpPr>
        <p:spPr>
          <a:xfrm>
            <a:off x="731520" y="749880"/>
            <a:ext cx="108810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Why niva, why now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Rectangle 4"/>
          <p:cNvSpPr/>
          <p:nvPr/>
        </p:nvSpPr>
        <p:spPr>
          <a:xfrm>
            <a:off x="822960" y="1664280"/>
            <a:ext cx="145800" cy="14580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" name="TextBox 5"/>
          <p:cNvSpPr/>
          <p:nvPr/>
        </p:nvSpPr>
        <p:spPr>
          <a:xfrm>
            <a:off x="1143000" y="1545480"/>
            <a:ext cx="10240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QGIS is the de-facto open GIS  </a:t>
            </a:r>
            <a:r>
              <a:rPr lang="en-US" sz="17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ubiquitous, trusted, free — the foundation we build 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Rectangle 6"/>
          <p:cNvSpPr/>
          <p:nvPr/>
        </p:nvSpPr>
        <p:spPr>
          <a:xfrm>
            <a:off x="822960" y="2450520"/>
            <a:ext cx="145800" cy="14580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TextBox 7"/>
          <p:cNvSpPr/>
          <p:nvPr/>
        </p:nvSpPr>
        <p:spPr>
          <a:xfrm>
            <a:off x="1143000" y="2331720"/>
            <a:ext cx="10240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Reproducible analysis is the norm  </a:t>
            </a:r>
            <a:r>
              <a:rPr lang="en-US" sz="17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Marimo and notebooks are how modern teams work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Rectangle 8"/>
          <p:cNvSpPr/>
          <p:nvPr/>
        </p:nvSpPr>
        <p:spPr>
          <a:xfrm>
            <a:off x="822960" y="3237120"/>
            <a:ext cx="145800" cy="14580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TextBox 9"/>
          <p:cNvSpPr/>
          <p:nvPr/>
        </p:nvSpPr>
        <p:spPr>
          <a:xfrm>
            <a:off x="1143000" y="3117960"/>
            <a:ext cx="10240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The automation gap is real &amp; unserved  </a:t>
            </a:r>
            <a:r>
              <a:rPr lang="en-US" sz="17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GUI analysts still can't automate without code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Rectangle 10"/>
          <p:cNvSpPr/>
          <p:nvPr/>
        </p:nvSpPr>
        <p:spPr>
          <a:xfrm>
            <a:off x="822960" y="4023360"/>
            <a:ext cx="145800" cy="14580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11"/>
          <p:cNvSpPr/>
          <p:nvPr/>
        </p:nvSpPr>
        <p:spPr>
          <a:xfrm>
            <a:off x="1143000" y="3904560"/>
            <a:ext cx="102409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9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Open and clean-room  </a:t>
            </a:r>
            <a:r>
              <a:rPr lang="en-US" sz="17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GPLv3, built on PyQGIS; no proprietary lock-in to fear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12"/>
          <p:cNvSpPr/>
          <p:nvPr/>
        </p:nvSpPr>
        <p:spPr>
          <a:xfrm>
            <a:off x="0" y="6565320"/>
            <a:ext cx="12191400" cy="54360"/>
          </a:xfrm>
          <a:prstGeom prst="rect">
            <a:avLst/>
          </a:prstGeom>
          <a:solidFill>
            <a:srgbClr val="C1B49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TextBox 13"/>
          <p:cNvSpPr/>
          <p:nvPr/>
        </p:nvSpPr>
        <p:spPr>
          <a:xfrm>
            <a:off x="502920" y="643752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niva</a:t>
            </a:r>
            <a:r>
              <a:rPr lang="en-US" sz="1200" b="0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  ·  Easy wins every time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14"/>
          <p:cNvSpPr/>
          <p:nvPr/>
        </p:nvSpPr>
        <p:spPr>
          <a:xfrm>
            <a:off x="10774440" y="6437520"/>
            <a:ext cx="91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14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Rectangle 1"/>
          <p:cNvSpPr/>
          <p:nvPr/>
        </p:nvSpPr>
        <p:spPr>
          <a:xfrm>
            <a:off x="502920" y="567000"/>
            <a:ext cx="109440" cy="56664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TextBox 2"/>
          <p:cNvSpPr/>
          <p:nvPr/>
        </p:nvSpPr>
        <p:spPr>
          <a:xfrm>
            <a:off x="731520" y="457200"/>
            <a:ext cx="10789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C1B49B"/>
                </a:solidFill>
                <a:effectLst/>
                <a:uFillTx/>
                <a:latin typeface="Arial"/>
              </a:rPr>
              <a:t>THE VALUE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Box 3"/>
          <p:cNvSpPr/>
          <p:nvPr/>
        </p:nvSpPr>
        <p:spPr>
          <a:xfrm>
            <a:off x="731520" y="749880"/>
            <a:ext cx="108810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What niva delivers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Rectangle 4"/>
          <p:cNvSpPr/>
          <p:nvPr/>
        </p:nvSpPr>
        <p:spPr>
          <a:xfrm>
            <a:off x="700920" y="1783080"/>
            <a:ext cx="5257440" cy="1234080"/>
          </a:xfrm>
          <a:prstGeom prst="rect">
            <a:avLst/>
          </a:prstGeom>
          <a:solidFill>
            <a:srgbClr val="EEF1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Rectangle 5"/>
          <p:cNvSpPr/>
          <p:nvPr/>
        </p:nvSpPr>
        <p:spPr>
          <a:xfrm>
            <a:off x="700920" y="1783080"/>
            <a:ext cx="127800" cy="1234080"/>
          </a:xfrm>
          <a:prstGeom prst="rect">
            <a:avLst/>
          </a:prstGeom>
          <a:solidFill>
            <a:srgbClr val="C1B49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TextBox 6"/>
          <p:cNvSpPr/>
          <p:nvPr/>
        </p:nvSpPr>
        <p:spPr>
          <a:xfrm>
            <a:off x="1020960" y="1929240"/>
            <a:ext cx="4800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Speed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7"/>
          <p:cNvSpPr/>
          <p:nvPr/>
        </p:nvSpPr>
        <p:spPr>
          <a:xfrm>
            <a:off x="1020960" y="2386440"/>
            <a:ext cx="4800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5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answers the same day — no queue behind a programmer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Rectangle 8"/>
          <p:cNvSpPr/>
          <p:nvPr/>
        </p:nvSpPr>
        <p:spPr>
          <a:xfrm>
            <a:off x="6233040" y="1783080"/>
            <a:ext cx="5257440" cy="1234080"/>
          </a:xfrm>
          <a:prstGeom prst="rect">
            <a:avLst/>
          </a:prstGeom>
          <a:solidFill>
            <a:srgbClr val="EEF1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Rectangle 9"/>
          <p:cNvSpPr/>
          <p:nvPr/>
        </p:nvSpPr>
        <p:spPr>
          <a:xfrm>
            <a:off x="6233040" y="1783080"/>
            <a:ext cx="127800" cy="1234080"/>
          </a:xfrm>
          <a:prstGeom prst="rect">
            <a:avLst/>
          </a:prstGeom>
          <a:solidFill>
            <a:srgbClr val="C1B49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4" name="TextBox 10"/>
          <p:cNvSpPr/>
          <p:nvPr/>
        </p:nvSpPr>
        <p:spPr>
          <a:xfrm>
            <a:off x="6553080" y="1929240"/>
            <a:ext cx="4800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Capacity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Box 11"/>
          <p:cNvSpPr/>
          <p:nvPr/>
        </p:nvSpPr>
        <p:spPr>
          <a:xfrm>
            <a:off x="6553080" y="2386440"/>
            <a:ext cx="4800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5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your existing analysts automate their own work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Rectangle 12"/>
          <p:cNvSpPr/>
          <p:nvPr/>
        </p:nvSpPr>
        <p:spPr>
          <a:xfrm>
            <a:off x="700920" y="3246120"/>
            <a:ext cx="5257440" cy="1234080"/>
          </a:xfrm>
          <a:prstGeom prst="rect">
            <a:avLst/>
          </a:prstGeom>
          <a:solidFill>
            <a:srgbClr val="EEF1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7" name="Rectangle 13"/>
          <p:cNvSpPr/>
          <p:nvPr/>
        </p:nvSpPr>
        <p:spPr>
          <a:xfrm>
            <a:off x="700920" y="3246120"/>
            <a:ext cx="127800" cy="1234080"/>
          </a:xfrm>
          <a:prstGeom prst="rect">
            <a:avLst/>
          </a:prstGeom>
          <a:solidFill>
            <a:srgbClr val="C1B49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TextBox 14"/>
          <p:cNvSpPr/>
          <p:nvPr/>
        </p:nvSpPr>
        <p:spPr>
          <a:xfrm>
            <a:off x="1020960" y="3392280"/>
            <a:ext cx="4800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Trust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Box 15"/>
          <p:cNvSpPr/>
          <p:nvPr/>
        </p:nvSpPr>
        <p:spPr>
          <a:xfrm>
            <a:off x="1020960" y="3849480"/>
            <a:ext cx="4800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5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reproducible, provenance-tracked, auditable results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Rectangle 16"/>
          <p:cNvSpPr/>
          <p:nvPr/>
        </p:nvSpPr>
        <p:spPr>
          <a:xfrm>
            <a:off x="6233040" y="3246120"/>
            <a:ext cx="5257440" cy="1234080"/>
          </a:xfrm>
          <a:prstGeom prst="rect">
            <a:avLst/>
          </a:prstGeom>
          <a:solidFill>
            <a:srgbClr val="EEF1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Rectangle 17"/>
          <p:cNvSpPr/>
          <p:nvPr/>
        </p:nvSpPr>
        <p:spPr>
          <a:xfrm>
            <a:off x="6233040" y="3246120"/>
            <a:ext cx="127800" cy="1234080"/>
          </a:xfrm>
          <a:prstGeom prst="rect">
            <a:avLst/>
          </a:prstGeom>
          <a:solidFill>
            <a:srgbClr val="C1B49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18"/>
          <p:cNvSpPr/>
          <p:nvPr/>
        </p:nvSpPr>
        <p:spPr>
          <a:xfrm>
            <a:off x="6553080" y="3392280"/>
            <a:ext cx="4800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Reach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19"/>
          <p:cNvSpPr/>
          <p:nvPr/>
        </p:nvSpPr>
        <p:spPr>
          <a:xfrm>
            <a:off x="6553080" y="3849480"/>
            <a:ext cx="4800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5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share to QGIS, Marimo, or static files — for anyone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Rectangle 20"/>
          <p:cNvSpPr/>
          <p:nvPr/>
        </p:nvSpPr>
        <p:spPr>
          <a:xfrm>
            <a:off x="700920" y="4709160"/>
            <a:ext cx="5257440" cy="1234080"/>
          </a:xfrm>
          <a:prstGeom prst="rect">
            <a:avLst/>
          </a:prstGeom>
          <a:solidFill>
            <a:srgbClr val="EEF1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5" name="Rectangle 21"/>
          <p:cNvSpPr/>
          <p:nvPr/>
        </p:nvSpPr>
        <p:spPr>
          <a:xfrm>
            <a:off x="700920" y="4709160"/>
            <a:ext cx="127800" cy="1234080"/>
          </a:xfrm>
          <a:prstGeom prst="rect">
            <a:avLst/>
          </a:prstGeom>
          <a:solidFill>
            <a:srgbClr val="C1B49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Box 22"/>
          <p:cNvSpPr/>
          <p:nvPr/>
        </p:nvSpPr>
        <p:spPr>
          <a:xfrm>
            <a:off x="1020960" y="4855320"/>
            <a:ext cx="4800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Lower cost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23"/>
          <p:cNvSpPr/>
          <p:nvPr/>
        </p:nvSpPr>
        <p:spPr>
          <a:xfrm>
            <a:off x="1020960" y="5312520"/>
            <a:ext cx="4800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5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less custom scripting, less specialized hiring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Rectangle 24"/>
          <p:cNvSpPr/>
          <p:nvPr/>
        </p:nvSpPr>
        <p:spPr>
          <a:xfrm>
            <a:off x="6233040" y="4709160"/>
            <a:ext cx="5257440" cy="1234080"/>
          </a:xfrm>
          <a:prstGeom prst="rect">
            <a:avLst/>
          </a:prstGeom>
          <a:solidFill>
            <a:srgbClr val="EEF1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Rectangle 25"/>
          <p:cNvSpPr/>
          <p:nvPr/>
        </p:nvSpPr>
        <p:spPr>
          <a:xfrm>
            <a:off x="6233040" y="4709160"/>
            <a:ext cx="127800" cy="1234080"/>
          </a:xfrm>
          <a:prstGeom prst="rect">
            <a:avLst/>
          </a:prstGeom>
          <a:solidFill>
            <a:srgbClr val="C1B49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0" name="TextBox 26"/>
          <p:cNvSpPr/>
          <p:nvPr/>
        </p:nvSpPr>
        <p:spPr>
          <a:xfrm>
            <a:off x="6553080" y="4855320"/>
            <a:ext cx="4800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No lock-in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Box 27"/>
          <p:cNvSpPr/>
          <p:nvPr/>
        </p:nvSpPr>
        <p:spPr>
          <a:xfrm>
            <a:off x="6553080" y="5312520"/>
            <a:ext cx="4800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5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open source, on open foundations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Rectangle 28"/>
          <p:cNvSpPr/>
          <p:nvPr/>
        </p:nvSpPr>
        <p:spPr>
          <a:xfrm>
            <a:off x="0" y="6565320"/>
            <a:ext cx="12191400" cy="54360"/>
          </a:xfrm>
          <a:prstGeom prst="rect">
            <a:avLst/>
          </a:prstGeom>
          <a:solidFill>
            <a:srgbClr val="C1B49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3" name="TextBox 29"/>
          <p:cNvSpPr/>
          <p:nvPr/>
        </p:nvSpPr>
        <p:spPr>
          <a:xfrm>
            <a:off x="502920" y="643752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niva</a:t>
            </a:r>
            <a:r>
              <a:rPr lang="en-US" sz="1200" b="0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  ·  Easy wins every time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Box 30"/>
          <p:cNvSpPr/>
          <p:nvPr/>
        </p:nvSpPr>
        <p:spPr>
          <a:xfrm>
            <a:off x="10774440" y="6437520"/>
            <a:ext cx="91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15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Rectangle 1"/>
          <p:cNvSpPr/>
          <p:nvPr/>
        </p:nvSpPr>
        <p:spPr>
          <a:xfrm>
            <a:off x="502920" y="567000"/>
            <a:ext cx="109440" cy="56664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6" name="TextBox 2"/>
          <p:cNvSpPr/>
          <p:nvPr/>
        </p:nvSpPr>
        <p:spPr>
          <a:xfrm>
            <a:off x="731520" y="457200"/>
            <a:ext cx="10789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C1B49B"/>
                </a:solidFill>
                <a:effectLst/>
                <a:uFillTx/>
                <a:latin typeface="Arial"/>
              </a:rPr>
              <a:t>STATUS · BUILT AND TESTED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Box 3"/>
          <p:cNvSpPr/>
          <p:nvPr/>
        </p:nvSpPr>
        <p:spPr>
          <a:xfrm>
            <a:off x="731520" y="749880"/>
            <a:ext cx="108810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What's working today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Box 4"/>
          <p:cNvSpPr/>
          <p:nvPr/>
        </p:nvSpPr>
        <p:spPr>
          <a:xfrm>
            <a:off x="777240" y="141732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niva is pre-release (v0.1) — but the core already runs real analysis end-to-end, on QGIS's own algorithms: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Rectangle 5"/>
          <p:cNvSpPr/>
          <p:nvPr/>
        </p:nvSpPr>
        <p:spPr>
          <a:xfrm>
            <a:off x="677880" y="2011680"/>
            <a:ext cx="5303160" cy="2057040"/>
          </a:xfrm>
          <a:prstGeom prst="rect">
            <a:avLst/>
          </a:prstGeom>
          <a:solidFill>
            <a:srgbClr val="EEF1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0" name="Rectangle 6"/>
          <p:cNvSpPr/>
          <p:nvPr/>
        </p:nvSpPr>
        <p:spPr>
          <a:xfrm>
            <a:off x="677880" y="2011680"/>
            <a:ext cx="5303160" cy="14580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TextBox 7"/>
          <p:cNvSpPr/>
          <p:nvPr/>
        </p:nvSpPr>
        <p:spPr>
          <a:xfrm>
            <a:off x="952200" y="2286000"/>
            <a:ext cx="475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Grammar &amp; engine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Box 8"/>
          <p:cNvSpPr/>
          <p:nvPr/>
        </p:nvSpPr>
        <p:spPr>
          <a:xfrm>
            <a:off x="952200" y="2761560"/>
            <a:ext cx="4800240" cy="12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4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✓  </a:t>
            </a:r>
            <a:r>
              <a:rPr lang="en-US" sz="14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Readable lexer + parser → pipeline stages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0000"/>
              </a:lnSpc>
            </a:pPr>
            <a:r>
              <a:rPr lang="en-US" sz="14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✓  </a:t>
            </a:r>
            <a:r>
              <a:rPr lang="en-US" sz="14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Pipe-chaining engine: layer handles, results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0000"/>
              </a:lnSpc>
            </a:pPr>
            <a:r>
              <a:rPr lang="en-US" sz="14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✓  </a:t>
            </a:r>
            <a:r>
              <a:rPr lang="en-US" sz="14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PyQGIS backend — runs real geoprocessing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Rectangle 9"/>
          <p:cNvSpPr/>
          <p:nvPr/>
        </p:nvSpPr>
        <p:spPr>
          <a:xfrm>
            <a:off x="6210000" y="2011680"/>
            <a:ext cx="5303160" cy="2057040"/>
          </a:xfrm>
          <a:prstGeom prst="rect">
            <a:avLst/>
          </a:prstGeom>
          <a:solidFill>
            <a:srgbClr val="EEF1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4" name="Rectangle 10"/>
          <p:cNvSpPr/>
          <p:nvPr/>
        </p:nvSpPr>
        <p:spPr>
          <a:xfrm>
            <a:off x="6210000" y="2011680"/>
            <a:ext cx="5303160" cy="145800"/>
          </a:xfrm>
          <a:prstGeom prst="rect">
            <a:avLst/>
          </a:prstGeom>
          <a:solidFill>
            <a:srgbClr val="C1B49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5" name="TextBox 11"/>
          <p:cNvSpPr/>
          <p:nvPr/>
        </p:nvSpPr>
        <p:spPr>
          <a:xfrm>
            <a:off x="6484320" y="2286000"/>
            <a:ext cx="475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Verb coverage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12"/>
          <p:cNvSpPr/>
          <p:nvPr/>
        </p:nvSpPr>
        <p:spPr>
          <a:xfrm>
            <a:off x="6484320" y="2761560"/>
            <a:ext cx="4800240" cy="12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4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✓  </a:t>
            </a:r>
            <a:r>
              <a:rPr lang="en-US" sz="14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~40-verb registry (Tier 1 + Tier 2 aliases)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0000"/>
              </a:lnSpc>
            </a:pPr>
            <a:r>
              <a:rPr lang="en-US" sz="14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✓  </a:t>
            </a:r>
            <a:r>
              <a:rPr lang="en-US" sz="14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9 core built-ins (load · save · filter · compute …)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0000"/>
              </a:lnSpc>
            </a:pPr>
            <a:r>
              <a:rPr lang="en-US" sz="14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✓  </a:t>
            </a:r>
            <a:r>
              <a:rPr lang="en-US" sz="14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sql read passthrough (SELECT → layer)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0000"/>
              </a:lnSpc>
            </a:pPr>
            <a:r>
              <a:rPr lang="en-US" sz="14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✓  </a:t>
            </a:r>
            <a:r>
              <a:rPr lang="en-US" sz="14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run — reach ANY QGIS algorithm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Rectangle 13"/>
          <p:cNvSpPr/>
          <p:nvPr/>
        </p:nvSpPr>
        <p:spPr>
          <a:xfrm>
            <a:off x="677880" y="4251960"/>
            <a:ext cx="5303160" cy="2057040"/>
          </a:xfrm>
          <a:prstGeom prst="rect">
            <a:avLst/>
          </a:prstGeom>
          <a:solidFill>
            <a:srgbClr val="EEF1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Rectangle 14"/>
          <p:cNvSpPr/>
          <p:nvPr/>
        </p:nvSpPr>
        <p:spPr>
          <a:xfrm>
            <a:off x="677880" y="4251960"/>
            <a:ext cx="5303160" cy="14580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9" name="TextBox 15"/>
          <p:cNvSpPr/>
          <p:nvPr/>
        </p:nvSpPr>
        <p:spPr>
          <a:xfrm>
            <a:off x="952200" y="4526280"/>
            <a:ext cx="475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Provenance &amp; quality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Box 16"/>
          <p:cNvSpPr/>
          <p:nvPr/>
        </p:nvSpPr>
        <p:spPr>
          <a:xfrm>
            <a:off x="952200" y="5001840"/>
            <a:ext cx="4800240" cy="12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4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✓  </a:t>
            </a:r>
            <a:r>
              <a:rPr lang="en-US" sz="14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Operation log / run journal — auto-recorded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0000"/>
              </a:lnSpc>
            </a:pPr>
            <a:r>
              <a:rPr lang="en-US" sz="14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✓  </a:t>
            </a:r>
            <a:r>
              <a:rPr lang="en-US" sz="14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assess — profile inputs before you trust them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Rectangle 17"/>
          <p:cNvSpPr/>
          <p:nvPr/>
        </p:nvSpPr>
        <p:spPr>
          <a:xfrm>
            <a:off x="6210000" y="4251960"/>
            <a:ext cx="5303160" cy="2057040"/>
          </a:xfrm>
          <a:prstGeom prst="rect">
            <a:avLst/>
          </a:prstGeom>
          <a:solidFill>
            <a:srgbClr val="EEF1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2" name="Rectangle 18"/>
          <p:cNvSpPr/>
          <p:nvPr/>
        </p:nvSpPr>
        <p:spPr>
          <a:xfrm>
            <a:off x="6210000" y="4251960"/>
            <a:ext cx="5303160" cy="145800"/>
          </a:xfrm>
          <a:prstGeom prst="rect">
            <a:avLst/>
          </a:prstGeom>
          <a:solidFill>
            <a:srgbClr val="C1B49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3" name="TextBox 19"/>
          <p:cNvSpPr/>
          <p:nvPr/>
        </p:nvSpPr>
        <p:spPr>
          <a:xfrm>
            <a:off x="6484320" y="4526280"/>
            <a:ext cx="47545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Composition &amp; delivery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Box 20"/>
          <p:cNvSpPr/>
          <p:nvPr/>
        </p:nvSpPr>
        <p:spPr>
          <a:xfrm>
            <a:off x="6484320" y="5001840"/>
            <a:ext cx="4800240" cy="12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4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✓  </a:t>
            </a:r>
            <a:r>
              <a:rPr lang="en-US" sz="14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call — compose flows across files (cycle-safe)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0000"/>
              </a:lnSpc>
            </a:pPr>
            <a:r>
              <a:rPr lang="en-US" sz="14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✓  </a:t>
            </a:r>
            <a:r>
              <a:rPr lang="en-US" sz="14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CLI + Python / Marimo API (--explain, --dry-run)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30000"/>
              </a:lnSpc>
            </a:pPr>
            <a:r>
              <a:rPr lang="en-US" sz="14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✓  </a:t>
            </a:r>
            <a:r>
              <a:rPr lang="en-US" sz="140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80 tests passing under QGIS · headless CI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Rectangle 21"/>
          <p:cNvSpPr/>
          <p:nvPr/>
        </p:nvSpPr>
        <p:spPr>
          <a:xfrm>
            <a:off x="0" y="6565320"/>
            <a:ext cx="12191400" cy="54360"/>
          </a:xfrm>
          <a:prstGeom prst="rect">
            <a:avLst/>
          </a:prstGeom>
          <a:solidFill>
            <a:srgbClr val="C1B49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6" name="TextBox 22"/>
          <p:cNvSpPr/>
          <p:nvPr/>
        </p:nvSpPr>
        <p:spPr>
          <a:xfrm>
            <a:off x="502920" y="643752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niva</a:t>
            </a:r>
            <a:r>
              <a:rPr lang="en-US" sz="1200" b="0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  ·  Easy wins every time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Box 23"/>
          <p:cNvSpPr/>
          <p:nvPr/>
        </p:nvSpPr>
        <p:spPr>
          <a:xfrm>
            <a:off x="10774440" y="6437520"/>
            <a:ext cx="91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16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Rectangle 1"/>
          <p:cNvSpPr/>
          <p:nvPr/>
        </p:nvSpPr>
        <p:spPr>
          <a:xfrm>
            <a:off x="502920" y="567000"/>
            <a:ext cx="109440" cy="56664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9" name="TextBox 2"/>
          <p:cNvSpPr/>
          <p:nvPr/>
        </p:nvSpPr>
        <p:spPr>
          <a:xfrm>
            <a:off x="731520" y="457200"/>
            <a:ext cx="10789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C1B49B"/>
                </a:solidFill>
                <a:effectLst/>
                <a:uFillTx/>
                <a:latin typeface="Arial"/>
              </a:rPr>
              <a:t>ROADMAP · REMAINING MILESTONES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Box 3"/>
          <p:cNvSpPr/>
          <p:nvPr/>
        </p:nvSpPr>
        <p:spPr>
          <a:xfrm>
            <a:off x="731520" y="749880"/>
            <a:ext cx="108810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The road ahead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Rectangle 4"/>
          <p:cNvSpPr/>
          <p:nvPr/>
        </p:nvSpPr>
        <p:spPr>
          <a:xfrm>
            <a:off x="1481400" y="1920240"/>
            <a:ext cx="36360" cy="3977280"/>
          </a:xfrm>
          <a:prstGeom prst="rect">
            <a:avLst/>
          </a:prstGeom>
          <a:solidFill>
            <a:srgbClr val="C1B49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2" name="Rectangle 5"/>
          <p:cNvSpPr/>
          <p:nvPr/>
        </p:nvSpPr>
        <p:spPr>
          <a:xfrm>
            <a:off x="914400" y="1828800"/>
            <a:ext cx="1142640" cy="45684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3" name="TextBox 6"/>
          <p:cNvSpPr/>
          <p:nvPr/>
        </p:nvSpPr>
        <p:spPr>
          <a:xfrm>
            <a:off x="914400" y="1828800"/>
            <a:ext cx="1142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v0.1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Box 7"/>
          <p:cNvSpPr/>
          <p:nvPr/>
        </p:nvSpPr>
        <p:spPr>
          <a:xfrm>
            <a:off x="2377440" y="1792080"/>
            <a:ext cx="9509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Core engine &amp; MVP</a:t>
            </a:r>
            <a:r>
              <a:rPr lang="en-US" sz="1300" b="1" i="1" u="none" strike="noStrike">
                <a:solidFill>
                  <a:srgbClr val="B85C3C"/>
                </a:solidFill>
                <a:effectLst/>
                <a:uFillTx/>
                <a:latin typeface="Arial"/>
              </a:rPr>
              <a:t>   finishing now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Box 8"/>
          <p:cNvSpPr/>
          <p:nvPr/>
        </p:nvSpPr>
        <p:spPr>
          <a:xfrm>
            <a:off x="2377440" y="2194560"/>
            <a:ext cx="9509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Grammar · PyQGIS backend · ~40 verbs · assess · run / call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Rectangle 9"/>
          <p:cNvSpPr/>
          <p:nvPr/>
        </p:nvSpPr>
        <p:spPr>
          <a:xfrm>
            <a:off x="914400" y="2761560"/>
            <a:ext cx="1142640" cy="45684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7" name="TextBox 10"/>
          <p:cNvSpPr/>
          <p:nvPr/>
        </p:nvSpPr>
        <p:spPr>
          <a:xfrm>
            <a:off x="914400" y="2761560"/>
            <a:ext cx="1142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v0.2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Box 11"/>
          <p:cNvSpPr/>
          <p:nvPr/>
        </p:nvSpPr>
        <p:spPr>
          <a:xfrm>
            <a:off x="2377440" y="2724840"/>
            <a:ext cx="9509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Breadth &amp; provenance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Box 12"/>
          <p:cNvSpPr/>
          <p:nvPr/>
        </p:nvSpPr>
        <p:spPr>
          <a:xfrm>
            <a:off x="2377440" y="3127320"/>
            <a:ext cx="9509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Tier-2 + raster verbs · auto-lineage → metadata · richer filter · qgis_process backend · docs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Rectangle 13"/>
          <p:cNvSpPr/>
          <p:nvPr/>
        </p:nvSpPr>
        <p:spPr>
          <a:xfrm>
            <a:off x="914400" y="3694320"/>
            <a:ext cx="1142640" cy="45684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1" name="TextBox 14"/>
          <p:cNvSpPr/>
          <p:nvPr/>
        </p:nvSpPr>
        <p:spPr>
          <a:xfrm>
            <a:off x="914400" y="3694320"/>
            <a:ext cx="1142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v1.0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Box 15"/>
          <p:cNvSpPr/>
          <p:nvPr/>
        </p:nvSpPr>
        <p:spPr>
          <a:xfrm>
            <a:off x="2377440" y="3657600"/>
            <a:ext cx="9509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Stable release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16"/>
          <p:cNvSpPr/>
          <p:nvPr/>
        </p:nvSpPr>
        <p:spPr>
          <a:xfrm>
            <a:off x="2377440" y="4060080"/>
            <a:ext cx="9509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Grammar freeze (SemVer) · PyPI publish · worked Marimo–QGIS integration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Rectangle 17"/>
          <p:cNvSpPr/>
          <p:nvPr/>
        </p:nvSpPr>
        <p:spPr>
          <a:xfrm>
            <a:off x="914400" y="4626720"/>
            <a:ext cx="1142640" cy="45684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5" name="TextBox 18"/>
          <p:cNvSpPr/>
          <p:nvPr/>
        </p:nvSpPr>
        <p:spPr>
          <a:xfrm>
            <a:off x="914400" y="4626720"/>
            <a:ext cx="1142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v2.0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Box 19"/>
          <p:cNvSpPr/>
          <p:nvPr/>
        </p:nvSpPr>
        <p:spPr>
          <a:xfrm>
            <a:off x="2377440" y="4590360"/>
            <a:ext cx="9509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Power features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Box 20"/>
          <p:cNvSpPr/>
          <p:nvPr/>
        </p:nvSpPr>
        <p:spPr>
          <a:xfrm>
            <a:off x="2377440" y="4992480"/>
            <a:ext cx="9509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Named intermediates &amp; variables · SQL writes · quality rules &amp; constraints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Rectangle 21"/>
          <p:cNvSpPr/>
          <p:nvPr/>
        </p:nvSpPr>
        <p:spPr>
          <a:xfrm>
            <a:off x="914400" y="5559480"/>
            <a:ext cx="1142640" cy="456840"/>
          </a:xfrm>
          <a:prstGeom prst="rect">
            <a:avLst/>
          </a:prstGeom>
          <a:solidFill>
            <a:srgbClr val="46575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9" name="TextBox 22"/>
          <p:cNvSpPr/>
          <p:nvPr/>
        </p:nvSpPr>
        <p:spPr>
          <a:xfrm>
            <a:off x="914400" y="5559480"/>
            <a:ext cx="1142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v2.x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Box 23"/>
          <p:cNvSpPr/>
          <p:nvPr/>
        </p:nvSpPr>
        <p:spPr>
          <a:xfrm>
            <a:off x="2377440" y="5523120"/>
            <a:ext cx="9509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28323B"/>
                </a:solidFill>
                <a:effectLst/>
                <a:uFillTx/>
                <a:latin typeface="Arial"/>
              </a:rPr>
              <a:t>Front ends &amp; service mode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Box 24"/>
          <p:cNvSpPr/>
          <p:nvPr/>
        </p:nvSpPr>
        <p:spPr>
          <a:xfrm>
            <a:off x="2377440" y="5925240"/>
            <a:ext cx="9509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50" b="0" u="none" strike="noStrike">
                <a:solidFill>
                  <a:srgbClr val="6B7B6F"/>
                </a:solidFill>
                <a:effectLst/>
                <a:uFillTx/>
                <a:latin typeface="Arial"/>
              </a:rPr>
              <a:t>QGIS plugin / Processing-Toolbox · service / daemon mode · layout &amp; symbology export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Rectangle 25"/>
          <p:cNvSpPr/>
          <p:nvPr/>
        </p:nvSpPr>
        <p:spPr>
          <a:xfrm>
            <a:off x="0" y="6565320"/>
            <a:ext cx="12191400" cy="54360"/>
          </a:xfrm>
          <a:prstGeom prst="rect">
            <a:avLst/>
          </a:prstGeom>
          <a:solidFill>
            <a:srgbClr val="C1B49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3" name="TextBox 26"/>
          <p:cNvSpPr/>
          <p:nvPr/>
        </p:nvSpPr>
        <p:spPr>
          <a:xfrm>
            <a:off x="502920" y="643752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niva</a:t>
            </a:r>
            <a:r>
              <a:rPr lang="en-US" sz="1200" b="0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  ·  Easy wins every time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Box 27"/>
          <p:cNvSpPr/>
          <p:nvPr/>
        </p:nvSpPr>
        <p:spPr>
          <a:xfrm>
            <a:off x="10774440" y="6437520"/>
            <a:ext cx="914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465753"/>
                </a:solidFill>
                <a:effectLst/>
                <a:uFillTx/>
                <a:latin typeface="Arial"/>
              </a:rPr>
              <a:t>17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2832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96" name="Picture 2" descr="logo.png"/>
          <p:cNvPicPr/>
          <p:nvPr/>
        </p:nvPicPr>
        <p:blipFill>
          <a:blip r:embed="rId1"/>
          <a:stretch/>
        </p:blipFill>
        <p:spPr>
          <a:xfrm>
            <a:off x="5401080" y="1051560"/>
            <a:ext cx="1389240" cy="1554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7" name="TextBox 3"/>
          <p:cNvSpPr/>
          <p:nvPr/>
        </p:nvSpPr>
        <p:spPr>
          <a:xfrm>
            <a:off x="914400" y="2880360"/>
            <a:ext cx="103626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Let your analysts do the analysis.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Box 4"/>
          <p:cNvSpPr/>
          <p:nvPr/>
        </p:nvSpPr>
        <p:spPr>
          <a:xfrm>
            <a:off x="914400" y="3703320"/>
            <a:ext cx="103626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900" b="0" u="none" strike="noStrike">
                <a:solidFill>
                  <a:srgbClr val="C1B49B"/>
                </a:solidFill>
                <a:effectLst/>
                <a:uFillTx/>
                <a:latin typeface="Arial"/>
              </a:rPr>
              <a:t>Bring readable, reproducible geoprocessing to the people who need it.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5"/>
          <p:cNvSpPr/>
          <p:nvPr/>
        </p:nvSpPr>
        <p:spPr>
          <a:xfrm>
            <a:off x="914400" y="4572000"/>
            <a:ext cx="10362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i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Easy wins every time.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Box 6"/>
          <p:cNvSpPr/>
          <p:nvPr/>
        </p:nvSpPr>
        <p:spPr>
          <a:xfrm>
            <a:off x="914400" y="585216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92988E"/>
                </a:solidFill>
                <a:effectLst/>
                <a:uFillTx/>
                <a:latin typeface="Arial"/>
              </a:rPr>
              <a:t>github.com/johnzastrow/niva   ·   Let's run a pilot.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Application>LibreOffice/26.2.3.2$Linux_X86_64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2026-06-13T22:17:33Z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