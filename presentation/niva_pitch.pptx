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_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7922" y="640080"/>
            <a:ext cx="1915850" cy="24688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337560"/>
            <a:ext cx="103628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Readable geoprocessing for everyone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69080"/>
            <a:ext cx="103628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6B7B6F"/>
                </a:solidFill>
                <a:latin typeface="Arial"/>
              </a:rPr>
              <a:t>Spatial analysis that a non-programmer can write, reproduce, and share.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41367" y="4892040"/>
            <a:ext cx="3108960" cy="548640"/>
          </a:xfrm>
          <a:prstGeom prst="rect">
            <a:avLst/>
          </a:prstGeom>
          <a:solidFill>
            <a:srgbClr val="2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41367" y="4956048"/>
            <a:ext cx="3108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C1B49B"/>
                </a:solidFill>
                <a:latin typeface="Arial"/>
              </a:rPr>
              <a:t>Easy wins every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3628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92988E"/>
                </a:solidFill>
                <a:latin typeface="Arial"/>
              </a:rPr>
              <a:t>Decision-maker &amp; analyst briefing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THE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Spatial questions are everywhere.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28323B"/>
                </a:solidFill>
                <a:latin typeface="Arial"/>
              </a:rPr>
              <a:t>The people who need the answers — analysts, scientists, planners — </a:t>
            </a:r>
            <a:r>
              <a:rPr sz="2600" b="1" i="0">
                <a:solidFill>
                  <a:srgbClr val="465753"/>
                </a:solidFill>
                <a:latin typeface="Arial"/>
              </a:rPr>
              <a:t>mostly aren't programmers.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02336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B6F"/>
                </a:solidFill>
                <a:latin typeface="Arial"/>
              </a:rPr>
              <a:t>Yet to </a:t>
            </a:r>
            <a:r>
              <a:rPr sz="2000" b="1" i="0">
                <a:solidFill>
                  <a:srgbClr val="28323B"/>
                </a:solidFill>
                <a:latin typeface="Arial"/>
              </a:rPr>
              <a:t>automate</a:t>
            </a:r>
            <a:r>
              <a:rPr sz="2000" b="0" i="0">
                <a:solidFill>
                  <a:srgbClr val="6B7B6F"/>
                </a:solidFill>
                <a:latin typeface="Arial"/>
              </a:rPr>
              <a:t> the work — to make it repeatable and shareable — today's tools demand that they write code. So the work waits, or doesn't happen.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100" b="0" i="0">
                <a:solidFill>
                  <a:srgbClr val="92988E"/>
                </a:solidFill>
                <a:latin typeface="Arial"/>
              </a:rPr>
              <a:t>  ·  Easy wins every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4375" y="645566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2988E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Automating QGIS means writing PyQGIS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6B7B6F"/>
                </a:solidFill>
                <a:latin typeface="Arial"/>
              </a:rPr>
              <a:t>To script even simple geoprocessing in QGIS today, you must: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32888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14016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Initialize a QgsApplication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boilerplate before any work begins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319272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20040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Memorize algorithm IDs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like native:buffer, native:dissolve, native:clip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986784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Build ALL_CAPS parameter dicts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and juggle TEMPORARY_OUTPUT between steps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92040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773168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Thread each tool's output into the next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by hand, step after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71500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28323B"/>
                </a:solidFill>
                <a:latin typeface="Arial"/>
              </a:rPr>
              <a:t>That's a </a:t>
            </a:r>
            <a:r>
              <a:rPr sz="1900" b="1" i="0">
                <a:solidFill>
                  <a:srgbClr val="B85C3C"/>
                </a:solidFill>
                <a:latin typeface="Arial"/>
              </a:rPr>
              <a:t>programming task</a:t>
            </a:r>
            <a:r>
              <a:rPr sz="1900" b="0" i="0">
                <a:solidFill>
                  <a:srgbClr val="28323B"/>
                </a:solidFill>
                <a:latin typeface="Arial"/>
              </a:rPr>
              <a:t> — out of reach for the GUI-first analysts who need it most, and tedious even for those who can.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455664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100" b="0" i="0">
                <a:solidFill>
                  <a:srgbClr val="92988E"/>
                </a:solidFill>
                <a:latin typeface="Arial"/>
              </a:rPr>
              <a:t>  ·  Easy wins every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74375" y="645566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2988E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THE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Automation shouldn't require a programmer</a:t>
            </a:r>
          </a:p>
        </p:txBody>
      </p:sp>
      <p:pic>
        <p:nvPicPr>
          <p:cNvPr id="5" name="Picture 4" descr="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100" y="1554480"/>
            <a:ext cx="9285493" cy="4800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100" b="0" i="0">
                <a:solidFill>
                  <a:srgbClr val="92988E"/>
                </a:solidFill>
                <a:latin typeface="Arial"/>
              </a:rPr>
              <a:t>  ·  Easy wins every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5566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2988E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Meet niva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28323B"/>
                </a:solidFill>
                <a:latin typeface="Arial"/>
              </a:rPr>
              <a:t>A concise, readable </a:t>
            </a:r>
            <a:r>
              <a:rPr sz="2400" b="1" i="0">
                <a:solidFill>
                  <a:srgbClr val="465753"/>
                </a:solidFill>
                <a:latin typeface="Arial"/>
              </a:rPr>
              <a:t>text-pipeline grammar</a:t>
            </a:r>
            <a:r>
              <a:rPr sz="2400" b="0" i="0">
                <a:solidFill>
                  <a:srgbClr val="28323B"/>
                </a:solidFill>
                <a:latin typeface="Arial"/>
              </a:rPr>
              <a:t> for QGIS geoprocessing — for people who don't want to write PyQGIS.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880360"/>
            <a:ext cx="10607040" cy="1143000"/>
          </a:xfrm>
          <a:prstGeom prst="rect">
            <a:avLst/>
          </a:prstGeom>
          <a:solidFill>
            <a:srgbClr val="2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880360"/>
            <a:ext cx="10058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C1B49B"/>
                </a:solidFill>
                <a:latin typeface="Consolas"/>
              </a:rPr>
              <a:t>load</a:t>
            </a:r>
            <a:r>
              <a:rPr sz="1900" b="0" i="0">
                <a:solidFill>
                  <a:srgbClr val="FFFFFF"/>
                </a:solidFill>
                <a:latin typeface="Consolas"/>
              </a:rPr>
              <a:t> roads.gpkg </a:t>
            </a:r>
            <a:r>
              <a:rPr sz="1900" b="0" i="0">
                <a:solidFill>
                  <a:srgbClr val="92988E"/>
                </a:solidFill>
                <a:latin typeface="Consolas"/>
              </a:rPr>
              <a:t>| </a:t>
            </a:r>
            <a:r>
              <a:rPr sz="1900" b="1" i="0">
                <a:solidFill>
                  <a:srgbClr val="C1B49B"/>
                </a:solidFill>
                <a:latin typeface="Consolas"/>
              </a:rPr>
              <a:t>buffer</a:t>
            </a:r>
            <a:r>
              <a:rPr sz="1900" b="0" i="0">
                <a:solidFill>
                  <a:srgbClr val="FFFFFF"/>
                </a:solidFill>
                <a:latin typeface="Consolas"/>
              </a:rPr>
              <a:t> 100 dissolve </a:t>
            </a:r>
            <a:r>
              <a:rPr sz="1900" b="0" i="0">
                <a:solidFill>
                  <a:srgbClr val="92988E"/>
                </a:solidFill>
                <a:latin typeface="Consolas"/>
              </a:rPr>
              <a:t>| </a:t>
            </a:r>
            <a:r>
              <a:rPr sz="1900" b="1" i="0">
                <a:solidFill>
                  <a:srgbClr val="C1B49B"/>
                </a:solidFill>
                <a:latin typeface="Consolas"/>
              </a:rPr>
              <a:t>clip</a:t>
            </a:r>
            <a:r>
              <a:rPr sz="1900" b="0" i="0">
                <a:solidFill>
                  <a:srgbClr val="FFFFFF"/>
                </a:solidFill>
                <a:latin typeface="Consolas"/>
              </a:rPr>
              <a:t> city.gpkg </a:t>
            </a:r>
            <a:r>
              <a:rPr sz="1900" b="0" i="0">
                <a:solidFill>
                  <a:srgbClr val="92988E"/>
                </a:solidFill>
                <a:latin typeface="Consolas"/>
              </a:rPr>
              <a:t>| </a:t>
            </a:r>
            <a:r>
              <a:rPr sz="1900" b="1" i="0">
                <a:solidFill>
                  <a:srgbClr val="C1B49B"/>
                </a:solidFill>
                <a:latin typeface="Consolas"/>
              </a:rPr>
              <a:t>save</a:t>
            </a:r>
            <a:r>
              <a:rPr sz="1900" b="0" i="0">
                <a:solidFill>
                  <a:srgbClr val="FFFFFF"/>
                </a:solidFill>
                <a:latin typeface="Consolas"/>
              </a:rPr>
              <a:t> roads_local.gpkg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434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B6F"/>
                </a:solidFill>
                <a:latin typeface="Arial"/>
              </a:rPr>
              <a:t>A whole pipeline on one line — that a non-programmer can </a:t>
            </a:r>
            <a:r>
              <a:rPr sz="2000" b="1" i="0">
                <a:solidFill>
                  <a:srgbClr val="28323B"/>
                </a:solidFill>
                <a:latin typeface="Arial"/>
              </a:rPr>
              <a:t>write and read</a:t>
            </a:r>
            <a:r>
              <a:rPr sz="2000" b="0" i="0">
                <a:solidFill>
                  <a:srgbClr val="6B7B6F"/>
                </a:solidFill>
                <a:latin typeface="Arial"/>
              </a:rPr>
              <a:t> — running on QGIS's own Processing algorithms underneath.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778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1">
                <a:solidFill>
                  <a:srgbClr val="C1B49B"/>
                </a:solidFill>
                <a:latin typeface="Arial"/>
              </a:rPr>
              <a:t>Easy wins every time.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100" b="0" i="0">
                <a:solidFill>
                  <a:srgbClr val="92988E"/>
                </a:solidFill>
                <a:latin typeface="Arial"/>
              </a:rPr>
              <a:t>  ·  Easy wins every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74375" y="645566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2988E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Who niva is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0595" y="1828800"/>
            <a:ext cx="3520440" cy="402336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828800"/>
            <a:ext cx="3520440" cy="20116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9195" y="2240280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28323B"/>
                </a:solidFill>
                <a:latin typeface="Arial"/>
              </a:rPr>
              <a:t>Decision-makers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195" y="3429000"/>
            <a:ext cx="3063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6B7B6F"/>
                </a:solidFill>
                <a:latin typeface="Arial"/>
              </a:rPr>
              <a:t>Faster answers without hiring scarce GIS programmers. Work that's auditable, reproducible, and shareable across the org.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5627" y="1828800"/>
            <a:ext cx="3520440" cy="402336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35627" y="1828800"/>
            <a:ext cx="3520440" cy="201168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4227" y="2240280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28323B"/>
                </a:solidFill>
                <a:latin typeface="Arial"/>
              </a:rPr>
              <a:t>Data scientists
(non-programmers)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4227" y="3429000"/>
            <a:ext cx="3063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6B7B6F"/>
                </a:solidFill>
                <a:latin typeface="Arial"/>
              </a:rPr>
              <a:t>Already use Marimo for repeatable, shareable analysis. Now add geoprocessing — in the same readable, reactive workflow.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20659" y="1828800"/>
            <a:ext cx="3520440" cy="402336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0659" y="1828800"/>
            <a:ext cx="3520440" cy="20116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9259" y="2240280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28323B"/>
                </a:solidFill>
                <a:latin typeface="Arial"/>
              </a:rPr>
              <a:t>Downstream consumers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9259" y="3429000"/>
            <a:ext cx="3063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6B7B6F"/>
                </a:solidFill>
                <a:latin typeface="Arial"/>
              </a:rPr>
              <a:t>Explore the results in QGIS, in Marimo, or as static files — whichever fits, no GIS expertise required.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455664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100" b="0" i="0">
                <a:solidFill>
                  <a:srgbClr val="92988E"/>
                </a:solidFill>
                <a:latin typeface="Arial"/>
              </a:rPr>
              <a:t>  ·  Easy wins every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74375" y="645566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2988E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MARIMO-NATIVE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It fits the workflow you already have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6B7B6F"/>
                </a:solidFill>
                <a:latin typeface="Arial"/>
              </a:rPr>
              <a:t>Marimo is how your team makes analysis repeatable and shareable. niva runs right inside it: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32888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14016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Write niva in a Marimo cell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a readable pipeline beside your Python and charts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319272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20040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Reactive results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change an input, the map and tables update — live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986784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Repeatable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the notebook is the analysis; re-run it any time, same result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92040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773168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Shareable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hand someone the notebook, or export it — no setup ritual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76072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8323B"/>
                </a:solidFill>
                <a:latin typeface="Arial"/>
              </a:rPr>
              <a:t>No new tool to adopt — </a:t>
            </a:r>
            <a:r>
              <a:rPr sz="1800" b="1" i="0">
                <a:solidFill>
                  <a:srgbClr val="465753"/>
                </a:solidFill>
                <a:latin typeface="Arial"/>
              </a:rPr>
              <a:t>niva meets your people where they already work.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455664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100" b="0" i="0">
                <a:solidFill>
                  <a:srgbClr val="92988E"/>
                </a:solidFill>
                <a:latin typeface="Arial"/>
              </a:rPr>
              <a:t>  ·  Easy wins every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74375" y="645566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2988E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FLEXIBLE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One grammar, many surfaces</a:t>
            </a:r>
          </a:p>
        </p:txBody>
      </p:sp>
      <p:pic>
        <p:nvPicPr>
          <p:cNvPr id="5" name="Picture 4" descr="sur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018" y="1554480"/>
            <a:ext cx="10279657" cy="4800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100" b="0" i="0">
                <a:solidFill>
                  <a:srgbClr val="92988E"/>
                </a:solidFill>
                <a:latin typeface="Arial"/>
              </a:rPr>
              <a:t>  ·  Easy wins every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5566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2988E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TRUST THE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Reproducible &amp; shareable —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6B7B6F"/>
                </a:solidFill>
                <a:latin typeface="Arial"/>
              </a:rPr>
              <a:t>The value decision-makers care about most: results you can re-run, audit, and defend.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32888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14016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Pipelines are the record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the one-line flow (or YAML) IS the documentation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319272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20040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Provenance as a byproduct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every step auto-recorded as lineage metadata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986784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Assess your inputs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profile incoming data for quality before you trust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92040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773168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Version-controlled flows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diff and review analysis like any other text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455664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100" b="0" i="0">
                <a:solidFill>
                  <a:srgbClr val="92988E"/>
                </a:solidFill>
                <a:latin typeface="Arial"/>
              </a:rPr>
              <a:t>  ·  Easy wins every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74375" y="645566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2988E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FOR EVERY STAKEHOLDER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Produce once — explore it anywhere</a:t>
            </a:r>
          </a:p>
        </p:txBody>
      </p:sp>
      <p:pic>
        <p:nvPicPr>
          <p:cNvPr id="5" name="Picture 4" descr="explore_anywhe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018" y="1554480"/>
            <a:ext cx="10279657" cy="4800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100" b="0" i="0">
                <a:solidFill>
                  <a:srgbClr val="92988E"/>
                </a:solidFill>
                <a:latin typeface="Arial"/>
              </a:rPr>
              <a:t>  ·  Easy wins every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5566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2988E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WITHOUT NIVA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The workflow today</a:t>
            </a:r>
          </a:p>
        </p:txBody>
      </p:sp>
      <p:pic>
        <p:nvPicPr>
          <p:cNvPr id="5" name="Picture 4" descr="without_n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17608"/>
            <a:ext cx="11185855" cy="447434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100" b="0" i="0">
                <a:solidFill>
                  <a:srgbClr val="92988E"/>
                </a:solidFill>
                <a:latin typeface="Arial"/>
              </a:rPr>
              <a:t>  ·  Easy wins every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5566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2988E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WITH NIVA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The workflow with niva</a:t>
            </a:r>
          </a:p>
        </p:txBody>
      </p:sp>
      <p:pic>
        <p:nvPicPr>
          <p:cNvPr id="5" name="Picture 4" descr="with_n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17608"/>
            <a:ext cx="11185855" cy="447434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100" b="0" i="0">
                <a:solidFill>
                  <a:srgbClr val="92988E"/>
                </a:solidFill>
                <a:latin typeface="Arial"/>
              </a:rPr>
              <a:t>  ·  Easy wins every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5566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2988E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THIN, NOT LIMITING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All of QGIS — in plain language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1920240"/>
            <a:ext cx="3383280" cy="210312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148840"/>
            <a:ext cx="3383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 i="0">
                <a:solidFill>
                  <a:srgbClr val="465753"/>
                </a:solidFill>
                <a:latin typeface="Arial"/>
              </a:rPr>
              <a:t>769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6607" y="338328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28323B"/>
                </a:solidFill>
                <a:latin typeface="Arial"/>
              </a:rPr>
              <a:t>Processing algorithms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4207" y="1920240"/>
            <a:ext cx="3383280" cy="210312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04207" y="2148840"/>
            <a:ext cx="3383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 i="0">
                <a:solidFill>
                  <a:srgbClr val="465753"/>
                </a:solidFill>
                <a:latin typeface="Arial"/>
              </a:rPr>
              <a:t>406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4207" y="338328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28323B"/>
                </a:solidFill>
                <a:latin typeface="Arial"/>
              </a:rPr>
              <a:t>expression functions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61807" y="1920240"/>
            <a:ext cx="3383280" cy="210312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1807" y="2148840"/>
            <a:ext cx="3383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 i="0">
                <a:solidFill>
                  <a:srgbClr val="465753"/>
                </a:solidFill>
                <a:latin typeface="Arial"/>
              </a:rPr>
              <a:t>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1807" y="338328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28323B"/>
                </a:solidFill>
                <a:latin typeface="Arial"/>
              </a:rPr>
              <a:t>SpatiaLite &amp; PostGIS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2628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B6F"/>
                </a:solidFill>
                <a:latin typeface="Arial"/>
              </a:rPr>
              <a:t>niva is a </a:t>
            </a:r>
            <a:r>
              <a:rPr sz="2000" b="1" i="0">
                <a:solidFill>
                  <a:srgbClr val="28323B"/>
                </a:solidFill>
                <a:latin typeface="Arial"/>
              </a:rPr>
              <a:t>thin wrapper</a:t>
            </a:r>
            <a:r>
              <a:rPr sz="2000" b="0" i="0">
                <a:solidFill>
                  <a:srgbClr val="6B7B6F"/>
                </a:solidFill>
                <a:latin typeface="Arial"/>
              </a:rPr>
              <a:t> — friendly verbs mapped onto QGIS's own algorithms, not a re-implementation of GIS. You get the full power of the world's leading open-source GIS, reachable in one readable 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455664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100" b="0" i="0">
                <a:solidFill>
                  <a:srgbClr val="92988E"/>
                </a:solidFill>
                <a:latin typeface="Arial"/>
              </a:rPr>
              <a:t>  ·  Easy wins every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74375" y="645566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2988E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THE TAILWINDS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Why niva, why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64208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545336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QGIS is the de-facto open GIS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ubiquitous, trusted, free — the foundation we build 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50591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33172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Reproducible analysis is the norm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Marimo and notebooks are how modern teams 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236975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118103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The automation gap is real &amp; unserved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GUI analysts still can't automate without code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23360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904488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Open and clean-room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GPLv3, built on PyQGIS; no proprietary lock-in to fear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100" b="0" i="0">
                <a:solidFill>
                  <a:srgbClr val="92988E"/>
                </a:solidFill>
                <a:latin typeface="Arial"/>
              </a:rPr>
              <a:t>  ·  Easy wins every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74375" y="645566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2988E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THE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What niva delivers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887" y="1783080"/>
            <a:ext cx="5257800" cy="123444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887" y="1783080"/>
            <a:ext cx="128016" cy="1234440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927" y="1929384"/>
            <a:ext cx="4800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465753"/>
                </a:solidFill>
                <a:latin typeface="Arial"/>
              </a:rPr>
              <a:t>Speed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0927" y="2386584"/>
            <a:ext cx="4800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6B7B6F"/>
                </a:solidFill>
                <a:latin typeface="Arial"/>
              </a:rPr>
              <a:t>answers the same day — no queue behind a programmer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783080"/>
            <a:ext cx="5257800" cy="123444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783080"/>
            <a:ext cx="128016" cy="1234440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3047" y="1929384"/>
            <a:ext cx="4800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465753"/>
                </a:solidFill>
                <a:latin typeface="Arial"/>
              </a:rPr>
              <a:t>Capacity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047" y="2386584"/>
            <a:ext cx="4800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6B7B6F"/>
                </a:solidFill>
                <a:latin typeface="Arial"/>
              </a:rPr>
              <a:t>your existing analysts automate their own 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887" y="3246120"/>
            <a:ext cx="5257800" cy="123444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0887" y="3246120"/>
            <a:ext cx="128016" cy="1234440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0927" y="3392424"/>
            <a:ext cx="4800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465753"/>
                </a:solidFill>
                <a:latin typeface="Arial"/>
              </a:rPr>
              <a:t>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0927" y="3849624"/>
            <a:ext cx="4800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6B7B6F"/>
                </a:solidFill>
                <a:latin typeface="Arial"/>
              </a:rPr>
              <a:t>reproducible, provenance-tracked, auditable results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246120"/>
            <a:ext cx="5257800" cy="123444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3246120"/>
            <a:ext cx="128016" cy="1234440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3047" y="3392424"/>
            <a:ext cx="4800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465753"/>
                </a:solidFill>
                <a:latin typeface="Arial"/>
              </a:rPr>
              <a:t>Reach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3849624"/>
            <a:ext cx="4800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6B7B6F"/>
                </a:solidFill>
                <a:latin typeface="Arial"/>
              </a:rPr>
              <a:t>share to QGIS, Marimo, or static files — for anyone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0887" y="4709160"/>
            <a:ext cx="5257800" cy="123444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0887" y="4709160"/>
            <a:ext cx="128016" cy="1234440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0927" y="4855464"/>
            <a:ext cx="4800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465753"/>
                </a:solidFill>
                <a:latin typeface="Arial"/>
              </a:rPr>
              <a:t>Lower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0927" y="5312664"/>
            <a:ext cx="4800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6B7B6F"/>
                </a:solidFill>
                <a:latin typeface="Arial"/>
              </a:rPr>
              <a:t>less custom scripting, less specialized hiring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3007" y="4709160"/>
            <a:ext cx="5257800" cy="123444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3007" y="4709160"/>
            <a:ext cx="128016" cy="1234440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53047" y="4855464"/>
            <a:ext cx="4800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465753"/>
                </a:solidFill>
                <a:latin typeface="Arial"/>
              </a:rPr>
              <a:t>No lock-in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3047" y="5312664"/>
            <a:ext cx="4800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6B7B6F"/>
                </a:solidFill>
                <a:latin typeface="Arial"/>
              </a:rPr>
              <a:t>open source, on open foundations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455664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100" b="0" i="0">
                <a:solidFill>
                  <a:srgbClr val="92988E"/>
                </a:solidFill>
                <a:latin typeface="Arial"/>
              </a:rPr>
              <a:t>  ·  Easy wins every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74375" y="645566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2988E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987" y="1051560"/>
            <a:ext cx="1389719" cy="1554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880360"/>
            <a:ext cx="103628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Let your analysts do the analysis.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0332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0" i="0">
                <a:solidFill>
                  <a:srgbClr val="C1B49B"/>
                </a:solidFill>
                <a:latin typeface="Arial"/>
              </a:rPr>
              <a:t>Bring readable, reproducible geoprocessing to the people who need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628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1">
                <a:solidFill>
                  <a:srgbClr val="FFFFFF"/>
                </a:solidFill>
                <a:latin typeface="Arial"/>
              </a:rPr>
              <a:t>Easy wins every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628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92988E"/>
                </a:solidFill>
                <a:latin typeface="Arial"/>
              </a:rPr>
              <a:t>github.com/johnzastrow/niva   ·   Let's run a pilot.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