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922" y="640080"/>
            <a:ext cx="1915850" cy="2468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337560"/>
            <a:ext cx="103628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Readable geoprocessing for everyone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6908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6B7B6F"/>
                </a:solidFill>
                <a:latin typeface="Arial"/>
              </a:rPr>
              <a:t>Spatial analysis that a non-programmer can write, reproduce, and share.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41367" y="4892040"/>
            <a:ext cx="3108960" cy="548640"/>
          </a:xfrm>
          <a:prstGeom prst="rect">
            <a:avLst/>
          </a:prstGeom>
          <a:solidFill>
            <a:srgbClr val="2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41367" y="4956048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1B49B"/>
                </a:solidFill>
                <a:latin typeface="Arial"/>
              </a:rPr>
              <a:t>Easy wins every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92988E"/>
                </a:solidFill>
                <a:latin typeface="Arial"/>
              </a:rPr>
              <a:t>Decision-maker &amp; analyst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Spatial questions are everywhere.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28323B"/>
                </a:solidFill>
                <a:latin typeface="Arial"/>
              </a:rPr>
              <a:t>The people who need the answers — analysts, scientists, planners — </a:t>
            </a:r>
            <a:r>
              <a:rPr sz="2600" b="1" i="0">
                <a:solidFill>
                  <a:srgbClr val="465753"/>
                </a:solidFill>
                <a:latin typeface="Arial"/>
              </a:rPr>
              <a:t>mostly aren't programmers.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233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B6F"/>
                </a:solidFill>
                <a:latin typeface="Arial"/>
              </a:rPr>
              <a:t>Yet to </a:t>
            </a:r>
            <a:r>
              <a:rPr sz="2000" b="1" i="0">
                <a:solidFill>
                  <a:srgbClr val="28323B"/>
                </a:solidFill>
                <a:latin typeface="Arial"/>
              </a:rPr>
              <a:t>automate</a:t>
            </a:r>
            <a:r>
              <a:rPr sz="2000" b="0" i="0">
                <a:solidFill>
                  <a:srgbClr val="6B7B6F"/>
                </a:solidFill>
                <a:latin typeface="Arial"/>
              </a:rPr>
              <a:t> the work — to make it repeatable and shareable — today's tools demand that they write code. So the work waits, or doesn't happen.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Automating QGIS means writing PyQGIS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B7B6F"/>
                </a:solidFill>
                <a:latin typeface="Arial"/>
              </a:rPr>
              <a:t>To script even simple geoprocessing in QGIS today, you must: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32888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14016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Initialize a QgsApplication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boilerplate before any work begins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19272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20040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Memorize algorithm IDs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like native:buffer, native:dissolve, native:clip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05656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986784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Build ALL_CAPS parameter dicts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and juggle TEMPORARY_OUTPUT between steps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892040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773168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Thread each tool's output into the next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by hand, step after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71500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28323B"/>
                </a:solidFill>
                <a:latin typeface="Arial"/>
              </a:rPr>
              <a:t>That's a </a:t>
            </a:r>
            <a:r>
              <a:rPr sz="1900" b="1" i="0">
                <a:solidFill>
                  <a:srgbClr val="B85C3C"/>
                </a:solidFill>
                <a:latin typeface="Arial"/>
              </a:rPr>
              <a:t>programming task</a:t>
            </a:r>
            <a:r>
              <a:rPr sz="1900" b="0" i="0">
                <a:solidFill>
                  <a:srgbClr val="28323B"/>
                </a:solidFill>
                <a:latin typeface="Arial"/>
              </a:rPr>
              <a:t> — out of reach for the GUI-first analysts who need it most, and tedious even for those who can.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THE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Automation shouldn't require a programmer</a:t>
            </a:r>
          </a:p>
        </p:txBody>
      </p:sp>
      <p:pic>
        <p:nvPicPr>
          <p:cNvPr id="5" name="Picture 4" descr="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100" y="1554480"/>
            <a:ext cx="9285493" cy="4800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Meet niva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28323B"/>
                </a:solidFill>
                <a:latin typeface="Arial"/>
              </a:rPr>
              <a:t>A concise, readable </a:t>
            </a:r>
            <a:r>
              <a:rPr sz="2400" b="1" i="0">
                <a:solidFill>
                  <a:srgbClr val="465753"/>
                </a:solidFill>
                <a:latin typeface="Arial"/>
              </a:rPr>
              <a:t>text-pipeline grammar</a:t>
            </a:r>
            <a:r>
              <a:rPr sz="2400" b="0" i="0">
                <a:solidFill>
                  <a:srgbClr val="28323B"/>
                </a:solidFill>
                <a:latin typeface="Arial"/>
              </a:rPr>
              <a:t> for QGIS geoprocessing — for people who don't want to write PyQGIS.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880360"/>
            <a:ext cx="10607040" cy="1143000"/>
          </a:xfrm>
          <a:prstGeom prst="rect">
            <a:avLst/>
          </a:prstGeom>
          <a:solidFill>
            <a:srgbClr val="2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100584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1B49B"/>
                </a:solidFill>
                <a:latin typeface="Consolas"/>
              </a:rPr>
              <a:t>load</a:t>
            </a:r>
            <a:r>
              <a:rPr sz="1900" b="0" i="0">
                <a:solidFill>
                  <a:srgbClr val="FFFFFF"/>
                </a:solidFill>
                <a:latin typeface="Consolas"/>
              </a:rPr>
              <a:t> roads.gpkg </a:t>
            </a:r>
            <a:r>
              <a:rPr sz="1900" b="0" i="0">
                <a:solidFill>
                  <a:srgbClr val="92988E"/>
                </a:solidFill>
                <a:latin typeface="Consolas"/>
              </a:rPr>
              <a:t>| </a:t>
            </a:r>
            <a:r>
              <a:rPr sz="1900" b="1" i="0">
                <a:solidFill>
                  <a:srgbClr val="C1B49B"/>
                </a:solidFill>
                <a:latin typeface="Consolas"/>
              </a:rPr>
              <a:t>buffer</a:t>
            </a:r>
            <a:r>
              <a:rPr sz="1900" b="0" i="0">
                <a:solidFill>
                  <a:srgbClr val="FFFFFF"/>
                </a:solidFill>
                <a:latin typeface="Consolas"/>
              </a:rPr>
              <a:t> 100 dissolve </a:t>
            </a:r>
            <a:r>
              <a:rPr sz="1900" b="0" i="0">
                <a:solidFill>
                  <a:srgbClr val="92988E"/>
                </a:solidFill>
                <a:latin typeface="Consolas"/>
              </a:rPr>
              <a:t>| </a:t>
            </a:r>
            <a:r>
              <a:rPr sz="1900" b="1" i="0">
                <a:solidFill>
                  <a:srgbClr val="C1B49B"/>
                </a:solidFill>
                <a:latin typeface="Consolas"/>
              </a:rPr>
              <a:t>clip</a:t>
            </a:r>
            <a:r>
              <a:rPr sz="1900" b="0" i="0">
                <a:solidFill>
                  <a:srgbClr val="FFFFFF"/>
                </a:solidFill>
                <a:latin typeface="Consolas"/>
              </a:rPr>
              <a:t> city.gpkg </a:t>
            </a:r>
            <a:r>
              <a:rPr sz="1900" b="0" i="0">
                <a:solidFill>
                  <a:srgbClr val="92988E"/>
                </a:solidFill>
                <a:latin typeface="Consolas"/>
              </a:rPr>
              <a:t>| </a:t>
            </a:r>
            <a:r>
              <a:rPr sz="1900" b="1" i="0">
                <a:solidFill>
                  <a:srgbClr val="C1B49B"/>
                </a:solidFill>
                <a:latin typeface="Consolas"/>
              </a:rPr>
              <a:t>save</a:t>
            </a:r>
            <a:r>
              <a:rPr sz="1900" b="0" i="0">
                <a:solidFill>
                  <a:srgbClr val="FFFFFF"/>
                </a:solidFill>
                <a:latin typeface="Consolas"/>
              </a:rPr>
              <a:t> roads_local.gpkg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B6F"/>
                </a:solidFill>
                <a:latin typeface="Arial"/>
              </a:rPr>
              <a:t>A whole pipeline on one line — that a non-programmer can </a:t>
            </a:r>
            <a:r>
              <a:rPr sz="2000" b="1" i="0">
                <a:solidFill>
                  <a:srgbClr val="28323B"/>
                </a:solidFill>
                <a:latin typeface="Arial"/>
              </a:rPr>
              <a:t>write and read</a:t>
            </a:r>
            <a:r>
              <a:rPr sz="2000" b="0" i="0">
                <a:solidFill>
                  <a:srgbClr val="6B7B6F"/>
                </a:solidFill>
                <a:latin typeface="Arial"/>
              </a:rPr>
              <a:t> — running on QGIS's own Processing algorithms underneath.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1">
                <a:solidFill>
                  <a:srgbClr val="C1B49B"/>
                </a:solidFill>
                <a:latin typeface="Arial"/>
              </a:rPr>
              <a:t>Easy wins every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Who niva is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0595" y="1828800"/>
            <a:ext cx="3520440" cy="402336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595" y="1828800"/>
            <a:ext cx="3520440" cy="20116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9195" y="224028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8323B"/>
                </a:solidFill>
                <a:latin typeface="Arial"/>
              </a:rPr>
              <a:t>Decision-makers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195" y="3429000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7B6F"/>
                </a:solidFill>
                <a:latin typeface="Arial"/>
              </a:rPr>
              <a:t>Faster answers without hiring scarce GIS programmers. Work that's auditable, reproducible, and shareable across the org.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5627" y="1828800"/>
            <a:ext cx="3520440" cy="402336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5627" y="1828800"/>
            <a:ext cx="3520440" cy="201168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4227" y="224028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8323B"/>
                </a:solidFill>
                <a:latin typeface="Arial"/>
              </a:rPr>
              <a:t>Data scientists
(non-programmers)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4227" y="3429000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7B6F"/>
                </a:solidFill>
                <a:latin typeface="Arial"/>
              </a:rPr>
              <a:t>Already use Marimo for repeatable, shareable analysis. Now add geoprocessing — in the same readable, reactive workflow.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0659" y="1828800"/>
            <a:ext cx="3520440" cy="402336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0659" y="1828800"/>
            <a:ext cx="3520440" cy="20116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9259" y="224028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8323B"/>
                </a:solidFill>
                <a:latin typeface="Arial"/>
              </a:rPr>
              <a:t>Downstream consumers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9259" y="3429000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6B7B6F"/>
                </a:solidFill>
                <a:latin typeface="Arial"/>
              </a:rPr>
              <a:t>Explore the results in QGIS, in Marimo, or as static files — whichever fits, no GIS expertise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MARIMO-NATIVE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It fits the workflow you already 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B7B6F"/>
                </a:solidFill>
                <a:latin typeface="Arial"/>
              </a:rPr>
              <a:t>Marimo is how your team makes analysis repeatable and shareable. niva runs right inside it: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32888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14016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Write niva in a Marimo cell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a readable pipeline beside your Python and charts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19272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20040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Reactive results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change an input, the map and tables update — live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05656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986784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Repeatable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the notebook is the analysis; re-run it any time, same 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892040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773168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Shareable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hand someone the notebook, or export it — no setup ritual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76072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8323B"/>
                </a:solidFill>
                <a:latin typeface="Arial"/>
              </a:rPr>
              <a:t>No new tool to adopt — </a:t>
            </a:r>
            <a:r>
              <a:rPr sz="1800" b="1" i="0">
                <a:solidFill>
                  <a:srgbClr val="465753"/>
                </a:solidFill>
                <a:latin typeface="Arial"/>
              </a:rPr>
              <a:t>niva meets your people where they already 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FLEXIBLE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One grammar, many surfaces</a:t>
            </a:r>
          </a:p>
        </p:txBody>
      </p:sp>
      <p:pic>
        <p:nvPicPr>
          <p:cNvPr id="5" name="Picture 4" descr="surf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018" y="1554480"/>
            <a:ext cx="10279657" cy="4800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TRUST 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Reproducible &amp; shareable —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B7B6F"/>
                </a:solidFill>
                <a:latin typeface="Arial"/>
              </a:rPr>
              <a:t>The value decision-makers care about most: results you can re-run, audit, and defend.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32888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14016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Pipelines are the record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the one-line flow (or YAML) IS the documentation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19272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20040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Provenance as a byproduct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every step auto-recorded as lineage metadata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05656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986784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Assess your inputs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profile incoming data for quality before you trust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892040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773168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Version-controlled flows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diff and review analysis like any other 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FOR EVERY STAKEHOLDER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Produce once — explore it anywhere</a:t>
            </a:r>
          </a:p>
        </p:txBody>
      </p:sp>
      <p:pic>
        <p:nvPicPr>
          <p:cNvPr id="5" name="Picture 4" descr="explore_anywhe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018" y="1554480"/>
            <a:ext cx="10279657" cy="4800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WITHOUT NIVA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The workflow today</a:t>
            </a:r>
          </a:p>
        </p:txBody>
      </p:sp>
      <p:pic>
        <p:nvPicPr>
          <p:cNvPr id="5" name="Picture 4" descr="without_n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7608"/>
            <a:ext cx="11185855" cy="447434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WITH NIVA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The workflow with niva</a:t>
            </a:r>
          </a:p>
        </p:txBody>
      </p:sp>
      <p:pic>
        <p:nvPicPr>
          <p:cNvPr id="5" name="Picture 4" descr="with_n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7608"/>
            <a:ext cx="11185855" cy="447434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THIN, NOT LIMITING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All of QGIS — in plain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7" y="1920240"/>
            <a:ext cx="3383280" cy="210312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214884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1" i="0">
                <a:solidFill>
                  <a:srgbClr val="465753"/>
                </a:solidFill>
                <a:latin typeface="Arial"/>
              </a:rPr>
              <a:t>769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338328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28323B"/>
                </a:solidFill>
                <a:latin typeface="Arial"/>
              </a:rPr>
              <a:t>Processing algorithms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4207" y="1920240"/>
            <a:ext cx="3383280" cy="210312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4207" y="214884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1" i="0">
                <a:solidFill>
                  <a:srgbClr val="465753"/>
                </a:solidFill>
                <a:latin typeface="Arial"/>
              </a:rPr>
              <a:t>406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4207" y="338328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28323B"/>
                </a:solidFill>
                <a:latin typeface="Arial"/>
              </a:rPr>
              <a:t>expression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1807" y="1920240"/>
            <a:ext cx="3383280" cy="210312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1807" y="2148840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1" i="0">
                <a:solidFill>
                  <a:srgbClr val="465753"/>
                </a:solidFill>
                <a:latin typeface="Arial"/>
              </a:rPr>
              <a:t>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1807" y="338328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28323B"/>
                </a:solidFill>
                <a:latin typeface="Arial"/>
              </a:rPr>
              <a:t>SpatiaLite &amp; PostGIS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B7B6F"/>
                </a:solidFill>
                <a:latin typeface="Arial"/>
              </a:rPr>
              <a:t>niva is a </a:t>
            </a:r>
            <a:r>
              <a:rPr sz="2000" b="1" i="0">
                <a:solidFill>
                  <a:srgbClr val="28323B"/>
                </a:solidFill>
                <a:latin typeface="Arial"/>
              </a:rPr>
              <a:t>thin wrapper</a:t>
            </a:r>
            <a:r>
              <a:rPr sz="2000" b="0" i="0">
                <a:solidFill>
                  <a:srgbClr val="6B7B6F"/>
                </a:solidFill>
                <a:latin typeface="Arial"/>
              </a:rPr>
              <a:t> — friendly verbs mapped onto QGIS's own algorithms, not a re-implementation of GIS. You get the full power of the world's leading open-source GIS, reachable in one readable 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THE TAILWINDS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Why niva, why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64208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545336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QGIS is the de-facto open GIS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ubiquitous, trusted, free — the foundation we build 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50591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3172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Reproducible analysis is the norm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Marimo and notebooks are how modern teams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36975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18103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The automation gap is real &amp; unserved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GUI analysts still can't automate without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023360"/>
            <a:ext cx="146304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904488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323B"/>
                </a:solidFill>
                <a:latin typeface="Arial"/>
              </a:rPr>
              <a:t>Open and clean-room  </a:t>
            </a:r>
            <a:r>
              <a:rPr sz="1700" b="0" i="0">
                <a:solidFill>
                  <a:srgbClr val="6B7B6F"/>
                </a:solidFill>
                <a:latin typeface="Arial"/>
              </a:rPr>
              <a:t>GPLv3, built on PyQGIS; no proprietary lock-in to fear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THE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What niva delivers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887" y="1783080"/>
            <a:ext cx="5257800" cy="123444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887" y="1783080"/>
            <a:ext cx="128016" cy="1234440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927" y="1929384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65753"/>
                </a:solidFill>
                <a:latin typeface="Arial"/>
              </a:rPr>
              <a:t>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0927" y="2386584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7B6F"/>
                </a:solidFill>
                <a:latin typeface="Arial"/>
              </a:rPr>
              <a:t>answers the same day — no queue behind a programmer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783080"/>
            <a:ext cx="5257800" cy="123444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783080"/>
            <a:ext cx="128016" cy="1234440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047" y="1929384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65753"/>
                </a:solidFill>
                <a:latin typeface="Arial"/>
              </a:rPr>
              <a:t>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2386584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7B6F"/>
                </a:solidFill>
                <a:latin typeface="Arial"/>
              </a:rPr>
              <a:t>your existing analysts automate their own 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0887" y="3246120"/>
            <a:ext cx="5257800" cy="123444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0887" y="3246120"/>
            <a:ext cx="128016" cy="1234440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0927" y="3392424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65753"/>
                </a:solidFill>
                <a:latin typeface="Arial"/>
              </a:rPr>
              <a:t>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0927" y="3849624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7B6F"/>
                </a:solidFill>
                <a:latin typeface="Arial"/>
              </a:rPr>
              <a:t>reproducible, provenance-tracked, auditable results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246120"/>
            <a:ext cx="5257800" cy="123444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3246120"/>
            <a:ext cx="128016" cy="1234440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3047" y="3392424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65753"/>
                </a:solidFill>
                <a:latin typeface="Arial"/>
              </a:rPr>
              <a:t>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3849624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7B6F"/>
                </a:solidFill>
                <a:latin typeface="Arial"/>
              </a:rPr>
              <a:t>share to QGIS, Marimo, or static files — for anyone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887" y="4709160"/>
            <a:ext cx="5257800" cy="123444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0887" y="4709160"/>
            <a:ext cx="128016" cy="1234440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0927" y="4855464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65753"/>
                </a:solidFill>
                <a:latin typeface="Arial"/>
              </a:rPr>
              <a:t>Lower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0927" y="5312664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7B6F"/>
                </a:solidFill>
                <a:latin typeface="Arial"/>
              </a:rPr>
              <a:t>less custom scripting, less specialized hiring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3007" y="4709160"/>
            <a:ext cx="5257800" cy="123444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4709160"/>
            <a:ext cx="128016" cy="1234440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047" y="4855464"/>
            <a:ext cx="4800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65753"/>
                </a:solidFill>
                <a:latin typeface="Arial"/>
              </a:rPr>
              <a:t>No lock-in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047" y="5312664"/>
            <a:ext cx="4800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6B7B6F"/>
                </a:solidFill>
                <a:latin typeface="Arial"/>
              </a:rPr>
              <a:t>open source, on open foundations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STATUS · BUILT AND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What's working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6B7B6F"/>
                </a:solidFill>
                <a:latin typeface="Arial"/>
              </a:rPr>
              <a:t>niva is pre-release (v0.1) — but the core already runs real analysis end-to-end, on QGIS's own algorithms:</a:t>
            </a:r>
          </a:p>
        </p:txBody>
      </p:sp>
      <p:sp>
        <p:nvSpPr>
          <p:cNvPr id="6" name="Rectangle 5"/>
          <p:cNvSpPr/>
          <p:nvPr/>
        </p:nvSpPr>
        <p:spPr>
          <a:xfrm>
            <a:off x="678027" y="2011680"/>
            <a:ext cx="5303520" cy="205740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8027" y="2011680"/>
            <a:ext cx="5303520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347" y="22860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65753"/>
                </a:solidFill>
                <a:latin typeface="Arial"/>
              </a:rPr>
              <a:t>Grammar &amp;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347" y="2761488"/>
            <a:ext cx="480060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Readable lexer + parser → pipeline stages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Pipe-chaining engine: layer handles, results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PyQGIS backend — runs real geoprocessing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011680"/>
            <a:ext cx="5303520" cy="205740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147" y="2011680"/>
            <a:ext cx="5303520" cy="14630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4467" y="22860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65753"/>
                </a:solidFill>
                <a:latin typeface="Arial"/>
              </a:rPr>
              <a:t>Verb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4467" y="2761488"/>
            <a:ext cx="480060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~40-verb registry (Tier 1 + Tier 2 aliases)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9 core built-ins (load · save · filter · compute …)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sql read passthrough (SELECT → layer)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run — reach ANY QGIS algorithm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027" y="4251960"/>
            <a:ext cx="5303520" cy="205740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8027" y="4251960"/>
            <a:ext cx="5303520" cy="146304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347" y="45262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65753"/>
                </a:solidFill>
                <a:latin typeface="Arial"/>
              </a:rPr>
              <a:t>Provenance &amp;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347" y="5001768"/>
            <a:ext cx="480060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Operation log / run journal — auto-recorded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assess — profile inputs before you trust them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0147" y="4251960"/>
            <a:ext cx="5303520" cy="2057400"/>
          </a:xfrm>
          <a:prstGeom prst="rect">
            <a:avLst/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0147" y="4251960"/>
            <a:ext cx="5303520" cy="14630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4467" y="45262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65753"/>
                </a:solidFill>
                <a:latin typeface="Arial"/>
              </a:rPr>
              <a:t>Composition &amp;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4467" y="5001768"/>
            <a:ext cx="480060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call — compose flows across files (cycle-safe)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CLI + Python / Marimo API (--explain, --dry-run)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465753"/>
                </a:solidFill>
                <a:latin typeface="Arial"/>
              </a:rPr>
              <a:t>✓  </a:t>
            </a:r>
            <a:r>
              <a:rPr sz="1400" b="0" i="0">
                <a:solidFill>
                  <a:srgbClr val="6B7B6F"/>
                </a:solidFill>
                <a:latin typeface="Arial"/>
              </a:rPr>
              <a:t>80 tests passing under QGIS · headless CI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1B49B"/>
                </a:solidFill>
                <a:latin typeface="Arial"/>
              </a:rPr>
              <a:t>ROADMAP · REMAINING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8323B"/>
                </a:solidFill>
                <a:latin typeface="Arial"/>
              </a:rPr>
              <a:t>The road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1481328" y="1920240"/>
            <a:ext cx="36576" cy="3977639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1143000" cy="457200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143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792224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8323B"/>
                </a:solidFill>
                <a:latin typeface="Arial"/>
              </a:rPr>
              <a:t>Core engine &amp; MVP</a:t>
            </a:r>
            <a:r>
              <a:rPr sz="1300" b="1" i="1">
                <a:solidFill>
                  <a:srgbClr val="B85C3C"/>
                </a:solidFill>
                <a:latin typeface="Arial"/>
              </a:rPr>
              <a:t>   finishing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194560"/>
            <a:ext cx="9509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B6F"/>
                </a:solidFill>
                <a:latin typeface="Arial"/>
              </a:rPr>
              <a:t>Grammar · PyQGIS backend · ~40 verbs · assess · run / 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761488"/>
            <a:ext cx="1143000" cy="457200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61488"/>
            <a:ext cx="1143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v0.2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724912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8323B"/>
                </a:solidFill>
                <a:latin typeface="Arial"/>
              </a:rPr>
              <a:t>Breadth &amp; provenance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127248"/>
            <a:ext cx="9509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B6F"/>
                </a:solidFill>
                <a:latin typeface="Arial"/>
              </a:rPr>
              <a:t>Tier-2 + raster verbs · auto-lineage → metadata · richer filter · qgis_process backend · docs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694176"/>
            <a:ext cx="1143000" cy="457200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94176"/>
            <a:ext cx="1143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657600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8323B"/>
                </a:solidFill>
                <a:latin typeface="Arial"/>
              </a:rPr>
              <a:t>Stable 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059936"/>
            <a:ext cx="9509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B6F"/>
                </a:solidFill>
                <a:latin typeface="Arial"/>
              </a:rPr>
              <a:t>Grammar freeze (SemVer) · PyPI publish · worked Marimo–QGIS integration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626864"/>
            <a:ext cx="1143000" cy="457200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26864"/>
            <a:ext cx="1143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590288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8323B"/>
                </a:solidFill>
                <a:latin typeface="Arial"/>
              </a:rPr>
              <a:t>Power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992624"/>
            <a:ext cx="9509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B6F"/>
                </a:solidFill>
                <a:latin typeface="Arial"/>
              </a:rPr>
              <a:t>Named intermediates &amp; variables · SQL writes · quality rules &amp; constraints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559552"/>
            <a:ext cx="1143000" cy="457200"/>
          </a:xfrm>
          <a:prstGeom prst="rect">
            <a:avLst/>
          </a:prstGeom>
          <a:solidFill>
            <a:srgbClr val="465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59552"/>
            <a:ext cx="1143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v2.x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5522976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8323B"/>
                </a:solidFill>
                <a:latin typeface="Arial"/>
              </a:rPr>
              <a:t>Front ends &amp; service 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925312"/>
            <a:ext cx="9509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B6F"/>
                </a:solidFill>
                <a:latin typeface="Arial"/>
              </a:rPr>
              <a:t>QGIS plugin / Processing-Toolbox · service / daemon mode · layout &amp; symbology export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54864"/>
          </a:xfrm>
          <a:prstGeom prst="rect">
            <a:avLst/>
          </a:prstGeom>
          <a:solidFill>
            <a:srgbClr val="C1B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437376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niva</a:t>
            </a:r>
            <a:r>
              <a:rPr sz="1200" b="0" i="0">
                <a:solidFill>
                  <a:srgbClr val="465753"/>
                </a:solidFill>
                <a:latin typeface="Arial"/>
              </a:rPr>
              <a:t>  ·  Easy wins every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74375" y="643737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65753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987" y="1051560"/>
            <a:ext cx="1389719" cy="1554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880360"/>
            <a:ext cx="103628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Let your analysts do the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C1B49B"/>
                </a:solidFill>
                <a:latin typeface="Arial"/>
              </a:rPr>
              <a:t>Bring readable, reproducible geoprocessing to the people who need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1">
                <a:solidFill>
                  <a:srgbClr val="FFFFFF"/>
                </a:solidFill>
                <a:latin typeface="Arial"/>
              </a:rPr>
              <a:t>Easy wins every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92988E"/>
                </a:solidFill>
                <a:latin typeface="Arial"/>
              </a:rPr>
              <a:t>github.com/johnzastrow/niva   ·   Let's run a pilot.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