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922" y="640080"/>
            <a:ext cx="1915850" cy="2468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33756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Readable geoprocessing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Spatial analysis that a non-programmer can write, reproduce, and share.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1367" y="4892040"/>
            <a:ext cx="3108960" cy="548640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41367" y="4956048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1B49B"/>
                </a:solidFill>
                <a:latin typeface="Arial"/>
              </a:rPr>
              <a:t>Easy wins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2988E"/>
                </a:solidFill>
                <a:latin typeface="Arial"/>
              </a:rPr>
              <a:t>Decision-maker &amp; analyst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Spatial questions are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28323B"/>
                </a:solidFill>
                <a:latin typeface="Arial"/>
              </a:rPr>
              <a:t>The people who need the answers — analysts, scientists, planners — </a:t>
            </a:r>
            <a:r>
              <a:rPr sz="2600" b="1" i="0">
                <a:solidFill>
                  <a:srgbClr val="465753"/>
                </a:solidFill>
                <a:latin typeface="Arial"/>
              </a:rPr>
              <a:t>mostly aren't programmers.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B6F"/>
                </a:solidFill>
                <a:latin typeface="Arial"/>
              </a:rPr>
              <a:t>Yet to </a:t>
            </a:r>
            <a:r>
              <a:rPr sz="2000" b="1" i="0">
                <a:solidFill>
                  <a:srgbClr val="28323B"/>
                </a:solidFill>
                <a:latin typeface="Arial"/>
              </a:rPr>
              <a:t>automate</a:t>
            </a:r>
            <a:r>
              <a:rPr sz="2000" b="0" i="0">
                <a:solidFill>
                  <a:srgbClr val="6B7B6F"/>
                </a:solidFill>
                <a:latin typeface="Arial"/>
              </a:rPr>
              <a:t> the work — to make it repeatable and shareable — today's tools demand that they write code. So the work waits, or doesn't happen.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Automating QGIS means writing PyQGIS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To script even simple geoprocessing in QGIS today, you must: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3288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1401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Initialize a QgsApplication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boilerplate before any work begins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9272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Memorize algorithm IDs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like native:buffer, native:dissolve, native:clip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5656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Build ALL_CAPS parameter dicts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and juggle TEMPORARY_OUTPUT between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9204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7316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Thread each tool's output into the next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by hand, step after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7150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28323B"/>
                </a:solidFill>
                <a:latin typeface="Arial"/>
              </a:rPr>
              <a:t>That's a </a:t>
            </a:r>
            <a:r>
              <a:rPr sz="1900" b="1" i="0">
                <a:solidFill>
                  <a:srgbClr val="B85C3C"/>
                </a:solidFill>
                <a:latin typeface="Arial"/>
              </a:rPr>
              <a:t>programming task</a:t>
            </a:r>
            <a:r>
              <a:rPr sz="1900" b="0" i="0">
                <a:solidFill>
                  <a:srgbClr val="28323B"/>
                </a:solidFill>
                <a:latin typeface="Arial"/>
              </a:rPr>
              <a:t> — out of reach for the GUI-first analysts who need it most, and tedious even for those who can.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Automation shouldn't require a programmer</a:t>
            </a:r>
          </a:p>
        </p:txBody>
      </p:sp>
      <p:pic>
        <p:nvPicPr>
          <p:cNvPr id="5" name="Picture 4" descr="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100" y="1554480"/>
            <a:ext cx="9285493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Meet niva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28323B"/>
                </a:solidFill>
                <a:latin typeface="Arial"/>
              </a:rPr>
              <a:t>A concise, readable </a:t>
            </a:r>
            <a:r>
              <a:rPr sz="2400" b="1" i="0">
                <a:solidFill>
                  <a:srgbClr val="465753"/>
                </a:solidFill>
                <a:latin typeface="Arial"/>
              </a:rPr>
              <a:t>text-pipeline grammar</a:t>
            </a:r>
            <a:r>
              <a:rPr sz="2400" b="0" i="0">
                <a:solidFill>
                  <a:srgbClr val="28323B"/>
                </a:solidFill>
                <a:latin typeface="Arial"/>
              </a:rPr>
              <a:t> for QGIS geoprocessing — for people who don't want to write PyQGIS.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10058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1B49B"/>
                </a:solidFill>
                <a:latin typeface="Consolas"/>
              </a:rPr>
              <a:t>load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roads.gpkg </a:t>
            </a:r>
            <a:r>
              <a:rPr sz="1900" b="0" i="0">
                <a:solidFill>
                  <a:srgbClr val="92988E"/>
                </a:solidFill>
                <a:latin typeface="Consolas"/>
              </a:rPr>
              <a:t>| </a:t>
            </a:r>
            <a:r>
              <a:rPr sz="1900" b="1" i="0">
                <a:solidFill>
                  <a:srgbClr val="C1B49B"/>
                </a:solidFill>
                <a:latin typeface="Consolas"/>
              </a:rPr>
              <a:t>buffer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100 dissolve </a:t>
            </a:r>
            <a:r>
              <a:rPr sz="1900" b="0" i="0">
                <a:solidFill>
                  <a:srgbClr val="92988E"/>
                </a:solidFill>
                <a:latin typeface="Consolas"/>
              </a:rPr>
              <a:t>| </a:t>
            </a:r>
            <a:r>
              <a:rPr sz="1900" b="1" i="0">
                <a:solidFill>
                  <a:srgbClr val="C1B49B"/>
                </a:solidFill>
                <a:latin typeface="Consolas"/>
              </a:rPr>
              <a:t>clip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city.gpkg </a:t>
            </a:r>
            <a:r>
              <a:rPr sz="1900" b="0" i="0">
                <a:solidFill>
                  <a:srgbClr val="92988E"/>
                </a:solidFill>
                <a:latin typeface="Consolas"/>
              </a:rPr>
              <a:t>| </a:t>
            </a:r>
            <a:r>
              <a:rPr sz="1900" b="1" i="0">
                <a:solidFill>
                  <a:srgbClr val="C1B49B"/>
                </a:solidFill>
                <a:latin typeface="Consolas"/>
              </a:rPr>
              <a:t>save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roads_local.gpkg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B6F"/>
                </a:solidFill>
                <a:latin typeface="Arial"/>
              </a:rPr>
              <a:t>A whole pipeline on one line — that a non-programmer can </a:t>
            </a:r>
            <a:r>
              <a:rPr sz="2000" b="1" i="0">
                <a:solidFill>
                  <a:srgbClr val="28323B"/>
                </a:solidFill>
                <a:latin typeface="Arial"/>
              </a:rPr>
              <a:t>write and read</a:t>
            </a:r>
            <a:r>
              <a:rPr sz="2000" b="0" i="0">
                <a:solidFill>
                  <a:srgbClr val="6B7B6F"/>
                </a:solidFill>
                <a:latin typeface="Arial"/>
              </a:rPr>
              <a:t> — running on QGIS's own Processing algorithms underneath.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1">
                <a:solidFill>
                  <a:srgbClr val="C1B49B"/>
                </a:solidFill>
                <a:latin typeface="Arial"/>
              </a:rPr>
              <a:t>Easy wins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Who niva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0595" y="1828800"/>
            <a:ext cx="3520440" cy="402336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595" y="1828800"/>
            <a:ext cx="3520440" cy="20116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195" y="22402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8323B"/>
                </a:solidFill>
                <a:latin typeface="Arial"/>
              </a:rPr>
              <a:t>Decision-makers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195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B6F"/>
                </a:solidFill>
                <a:latin typeface="Arial"/>
              </a:rPr>
              <a:t>Faster answers without hiring scarce GIS programmers. Work that's auditable, reproducible, and shareable across the org.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5627" y="1828800"/>
            <a:ext cx="3520440" cy="402336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1828800"/>
            <a:ext cx="3520440" cy="201168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227" y="22402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8323B"/>
                </a:solidFill>
                <a:latin typeface="Arial"/>
              </a:rPr>
              <a:t>Data scientists
(non-programmers)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4227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B6F"/>
                </a:solidFill>
                <a:latin typeface="Arial"/>
              </a:rPr>
              <a:t>Already use Marimo for repeatable, shareable analysis. Now add geoprocessing — in the same readable, reactive workflow.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0659" y="1828800"/>
            <a:ext cx="3520440" cy="402336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0659" y="1828800"/>
            <a:ext cx="3520440" cy="20116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9259" y="22402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8323B"/>
                </a:solidFill>
                <a:latin typeface="Arial"/>
              </a:rPr>
              <a:t>Downstream consumers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9259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B6F"/>
                </a:solidFill>
                <a:latin typeface="Arial"/>
              </a:rPr>
              <a:t>Explore the results in QGIS, in Marimo, or as static files — whichever fits, no GIS expertise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MARIMO-NATIVE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It fits the workflow you already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Marimo is how your team makes analysis repeatable and shareable. niva runs right inside it: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3288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1401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Write niva in a Marimo cell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a readable pipeline beside your Python and charts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9272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Reactive results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change an input, the map and tables update —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5656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Repeatable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the notebook is the analysis; re-run it any time, same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9204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7316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Shareable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hand someone the notebook, or export it — no setup ritual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7607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No new tool to adopt — </a:t>
            </a:r>
            <a:r>
              <a:rPr sz="1800" b="1" i="0">
                <a:solidFill>
                  <a:srgbClr val="465753"/>
                </a:solidFill>
                <a:latin typeface="Arial"/>
              </a:rPr>
              <a:t>niva meets your people where they already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FLEXIBLE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One grammar, many surfaces</a:t>
            </a:r>
          </a:p>
        </p:txBody>
      </p:sp>
      <p:pic>
        <p:nvPicPr>
          <p:cNvPr id="5" name="Picture 4" descr="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18" y="1554480"/>
            <a:ext cx="10279657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TRUST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Reproducible &amp; shareable —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The value decision-makers care about most: results you can re-run, audit, and defend.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3288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1401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Pipelines are the record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the one-line flow (or YAML) IS the 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9272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Provenance as a byproduct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every step auto-recorded as lineage metadata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5656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Assess your inputs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profile incoming data for quality before you trust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9204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7316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Version-controlled flows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diff and review analysis like any other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FOR EVERY 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Produce once — explore it anywhere</a:t>
            </a:r>
          </a:p>
        </p:txBody>
      </p:sp>
      <p:pic>
        <p:nvPicPr>
          <p:cNvPr id="5" name="Picture 4" descr="explore_anyw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18" y="1554480"/>
            <a:ext cx="10279657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WITHOUT NIVA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The workflow today</a:t>
            </a:r>
          </a:p>
        </p:txBody>
      </p:sp>
      <p:pic>
        <p:nvPicPr>
          <p:cNvPr id="5" name="Picture 4" descr="without_n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7608"/>
            <a:ext cx="11185855" cy="44743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WITH NIVA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The workflow with niva</a:t>
            </a:r>
          </a:p>
        </p:txBody>
      </p:sp>
      <p:pic>
        <p:nvPicPr>
          <p:cNvPr id="5" name="Picture 4" descr="with_n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7608"/>
            <a:ext cx="11185855" cy="44743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THIN, NOT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All of QGIS — in plain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1920240"/>
            <a:ext cx="3383280" cy="210312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148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465753"/>
                </a:solidFill>
                <a:latin typeface="Arial"/>
              </a:rPr>
              <a:t>769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33832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Processing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207" y="1920240"/>
            <a:ext cx="3383280" cy="210312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207" y="2148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465753"/>
                </a:solidFill>
                <a:latin typeface="Arial"/>
              </a:rPr>
              <a:t>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207" y="33832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expression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1807" y="1920240"/>
            <a:ext cx="3383280" cy="210312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1807" y="2148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465753"/>
                </a:solidFill>
                <a:latin typeface="Arial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1807" y="33832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SpatiaLite &amp; PostGIS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B6F"/>
                </a:solidFill>
                <a:latin typeface="Arial"/>
              </a:rPr>
              <a:t>niva is a </a:t>
            </a:r>
            <a:r>
              <a:rPr sz="2000" b="1" i="0">
                <a:solidFill>
                  <a:srgbClr val="28323B"/>
                </a:solidFill>
                <a:latin typeface="Arial"/>
              </a:rPr>
              <a:t>thin wrapper</a:t>
            </a:r>
            <a:r>
              <a:rPr sz="2000" b="0" i="0">
                <a:solidFill>
                  <a:srgbClr val="6B7B6F"/>
                </a:solidFill>
                <a:latin typeface="Arial"/>
              </a:rPr>
              <a:t> — friendly verbs mapped onto QGIS's own algorithms, not a re-implementation of GIS. You get the full power of the world's leading open-source GIS, reachable in one readable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TAILWINDS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Why niva, 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4533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QGIS is the de-facto open GIS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ubiquitous, trusted, free — the foundation we build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50591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Reproducible analysis is the norm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Marimo and notebooks are how modern teams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36975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18103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The automation gap is real &amp; unserved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GUI analysts still can't automate without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2336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90448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Open and clean-room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GPLv3, built on PyQGIS; no proprietary lock-in to fear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What niva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887" y="178308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887" y="178308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192938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238658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answers the same day — no queue behind a programmer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78308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78308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192938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38658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your existing analysts automate their own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887" y="324612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887" y="324612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927" y="339242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927" y="384962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reproducible, provenance-tracked, auditable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24612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24612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39242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84962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share to QGIS, Marimo, or static files — for anyone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887" y="470916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887" y="470916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0927" y="485546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Lower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927" y="531266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less custom scripting, less specialized hiring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7" y="470916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470916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485546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No lock-in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047" y="531266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open source, on open foundations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STATUS · BUILT AND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What's working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B7B6F"/>
                </a:solidFill>
                <a:latin typeface="Arial"/>
              </a:rPr>
              <a:t>niva ships as a QGIS plugin (v0.30) and runs real analysis end-to-end, on QGIS's own algorithms: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027" y="201168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027" y="2011680"/>
            <a:ext cx="5303520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286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Grammar &amp;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347" y="276148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Readable lexer + parser → pipeline stages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Pipe-chaining engine: layer handles, lineage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PyQGIS backend — runs real geoprocessing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1168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2011680"/>
            <a:ext cx="5303520" cy="14630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2286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Verbs &amp;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76148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~45 alias verbs + 14 built-ins (vector + raster)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sql @conn — SELECT → layer, and server-side writes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run — reach ANY of QGIS's 769 algorithms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027" y="425196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8027" y="4251960"/>
            <a:ext cx="5303520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347" y="45262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Data &amp; cartography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347" y="500176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PostGIS &amp; SpatiaLite — read · write · analyse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project — repoint / build / templates · bookmarks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style — apply / export .qml · .sld · .qlr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147" y="425196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251960"/>
            <a:ext cx="5303520" cy="14630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45262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Discovery, delivery &amp;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500176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show / info / catalog — list data, inspect environment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QGIS plugin (Install from ZIP) · CLI · Python API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300+ tests, live-QGIS + PostGIS CI · full 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ROADMAP · SHIPPED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The road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1328" y="1920240"/>
            <a:ext cx="36576" cy="3977639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v0.30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9222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Shipped — available now</a:t>
            </a:r>
            <a:r>
              <a:rPr sz="1300" b="1" i="1">
                <a:solidFill>
                  <a:srgbClr val="B85C3C"/>
                </a:solidFill>
                <a:latin typeface="Arial"/>
              </a:rPr>
              <a:t>   available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94560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~45 verbs + raster · run → 769 · PostGIS read·write·analyse · project / template / style · show / info discovery · QGIS plugin · CLI / Python · full 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61488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2491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Stable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127248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Grammar freeze (SemVer) · PyPI publish · worked Marimo–QGIS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694176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94176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657600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Power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059936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Named intermediates &amp; variables · SQL-driven quality rules &amp;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26864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26864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v2.x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590288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Service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992624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Service / daemon mode · richer layout &amp; symbology export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987" y="1051560"/>
            <a:ext cx="1389719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88036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Let your analysts do the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C1B49B"/>
                </a:solidFill>
                <a:latin typeface="Arial"/>
              </a:rPr>
              <a:t>Bring readable, reproducible geoprocessing to the people who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1">
                <a:solidFill>
                  <a:srgbClr val="FFFFFF"/>
                </a:solidFill>
                <a:latin typeface="Arial"/>
              </a:rPr>
              <a:t>Easy wins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92988E"/>
                </a:solidFill>
                <a:latin typeface="Arial"/>
              </a:rPr>
              <a:t>github.com/johnzastrow/niva   ·   Let's run a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